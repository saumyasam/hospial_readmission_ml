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76" r:id="rId7"/>
    <p:sldId id="261" r:id="rId8"/>
    <p:sldId id="262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3447" autoAdjust="0"/>
  </p:normalViewPr>
  <p:slideViewPr>
    <p:cSldViewPr snapToGrid="0" snapToObjects="1">
      <p:cViewPr varScale="1">
        <p:scale>
          <a:sx n="59" d="100"/>
          <a:sy n="59" d="100"/>
        </p:scale>
        <p:origin x="1500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7E29F4E-20D3-4D83-A2AD-15ABB8BD0F52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43C1C10-F34F-4842-86E0-6B1188676328}">
      <dgm:prSet/>
      <dgm:spPr/>
      <dgm:t>
        <a:bodyPr/>
        <a:lstStyle/>
        <a:p>
          <a:r>
            <a:rPr lang="en-US"/>
            <a:t>Unplanned hospital readmissions are costly in both financially and clinically.</a:t>
          </a:r>
        </a:p>
      </dgm:t>
    </dgm:pt>
    <dgm:pt modelId="{594BE0BA-4130-43F6-B807-93978713966C}" type="parTrans" cxnId="{06ADB6B9-5B4F-4586-8E56-7F1D2E0CB5B8}">
      <dgm:prSet/>
      <dgm:spPr/>
      <dgm:t>
        <a:bodyPr/>
        <a:lstStyle/>
        <a:p>
          <a:endParaRPr lang="en-US"/>
        </a:p>
      </dgm:t>
    </dgm:pt>
    <dgm:pt modelId="{39A85D99-0624-4479-973C-53931C63E881}" type="sibTrans" cxnId="{06ADB6B9-5B4F-4586-8E56-7F1D2E0CB5B8}">
      <dgm:prSet/>
      <dgm:spPr/>
      <dgm:t>
        <a:bodyPr/>
        <a:lstStyle/>
        <a:p>
          <a:endParaRPr lang="en-US"/>
        </a:p>
      </dgm:t>
    </dgm:pt>
    <dgm:pt modelId="{6FFB2F60-DB2F-4321-851A-077C2DFB7E6D}">
      <dgm:prSet/>
      <dgm:spPr/>
      <dgm:t>
        <a:bodyPr/>
        <a:lstStyle/>
        <a:p>
          <a:r>
            <a:rPr lang="en-US"/>
            <a:t>Can we identify high-risk patients in advance using machine learning?</a:t>
          </a:r>
        </a:p>
      </dgm:t>
    </dgm:pt>
    <dgm:pt modelId="{709166EE-06FD-4DF5-94AB-BC875FDA2BAA}" type="parTrans" cxnId="{2D904538-F48F-47C8-A922-C6FE918D0676}">
      <dgm:prSet/>
      <dgm:spPr/>
      <dgm:t>
        <a:bodyPr/>
        <a:lstStyle/>
        <a:p>
          <a:endParaRPr lang="en-US"/>
        </a:p>
      </dgm:t>
    </dgm:pt>
    <dgm:pt modelId="{0EE966D9-52CD-4700-8C70-20C2AD9D0222}" type="sibTrans" cxnId="{2D904538-F48F-47C8-A922-C6FE918D0676}">
      <dgm:prSet/>
      <dgm:spPr/>
      <dgm:t>
        <a:bodyPr/>
        <a:lstStyle/>
        <a:p>
          <a:endParaRPr lang="en-US"/>
        </a:p>
      </dgm:t>
    </dgm:pt>
    <dgm:pt modelId="{D9140CD7-2684-4E99-BB47-4F12608B21A5}" type="pres">
      <dgm:prSet presAssocID="{07E29F4E-20D3-4D83-A2AD-15ABB8BD0F52}" presName="diagram" presStyleCnt="0">
        <dgm:presLayoutVars>
          <dgm:dir/>
          <dgm:resizeHandles val="exact"/>
        </dgm:presLayoutVars>
      </dgm:prSet>
      <dgm:spPr/>
    </dgm:pt>
    <dgm:pt modelId="{DB4B8468-1F23-40E7-8F9F-5E6CD7584628}" type="pres">
      <dgm:prSet presAssocID="{043C1C10-F34F-4842-86E0-6B1188676328}" presName="node" presStyleLbl="node1" presStyleIdx="0" presStyleCnt="2">
        <dgm:presLayoutVars>
          <dgm:bulletEnabled val="1"/>
        </dgm:presLayoutVars>
      </dgm:prSet>
      <dgm:spPr/>
    </dgm:pt>
    <dgm:pt modelId="{FC190CD0-2E05-414B-AE34-BDBF66287035}" type="pres">
      <dgm:prSet presAssocID="{39A85D99-0624-4479-973C-53931C63E881}" presName="sibTrans" presStyleCnt="0"/>
      <dgm:spPr/>
    </dgm:pt>
    <dgm:pt modelId="{03B1AB25-DD54-4D15-B945-A7E4C287FD3A}" type="pres">
      <dgm:prSet presAssocID="{6FFB2F60-DB2F-4321-851A-077C2DFB7E6D}" presName="node" presStyleLbl="node1" presStyleIdx="1" presStyleCnt="2">
        <dgm:presLayoutVars>
          <dgm:bulletEnabled val="1"/>
        </dgm:presLayoutVars>
      </dgm:prSet>
      <dgm:spPr/>
    </dgm:pt>
  </dgm:ptLst>
  <dgm:cxnLst>
    <dgm:cxn modelId="{2D904538-F48F-47C8-A922-C6FE918D0676}" srcId="{07E29F4E-20D3-4D83-A2AD-15ABB8BD0F52}" destId="{6FFB2F60-DB2F-4321-851A-077C2DFB7E6D}" srcOrd="1" destOrd="0" parTransId="{709166EE-06FD-4DF5-94AB-BC875FDA2BAA}" sibTransId="{0EE966D9-52CD-4700-8C70-20C2AD9D0222}"/>
    <dgm:cxn modelId="{0B2AC147-A475-4516-AFFA-9A4ACDA74F99}" type="presOf" srcId="{043C1C10-F34F-4842-86E0-6B1188676328}" destId="{DB4B8468-1F23-40E7-8F9F-5E6CD7584628}" srcOrd="0" destOrd="0" presId="urn:microsoft.com/office/officeart/2005/8/layout/default"/>
    <dgm:cxn modelId="{06ADB6B9-5B4F-4586-8E56-7F1D2E0CB5B8}" srcId="{07E29F4E-20D3-4D83-A2AD-15ABB8BD0F52}" destId="{043C1C10-F34F-4842-86E0-6B1188676328}" srcOrd="0" destOrd="0" parTransId="{594BE0BA-4130-43F6-B807-93978713966C}" sibTransId="{39A85D99-0624-4479-973C-53931C63E881}"/>
    <dgm:cxn modelId="{9930D5D6-7025-4FA0-B90A-959D14E55B0B}" type="presOf" srcId="{6FFB2F60-DB2F-4321-851A-077C2DFB7E6D}" destId="{03B1AB25-DD54-4D15-B945-A7E4C287FD3A}" srcOrd="0" destOrd="0" presId="urn:microsoft.com/office/officeart/2005/8/layout/default"/>
    <dgm:cxn modelId="{50C110F6-DBBD-4D04-9348-938E33C29A66}" type="presOf" srcId="{07E29F4E-20D3-4D83-A2AD-15ABB8BD0F52}" destId="{D9140CD7-2684-4E99-BB47-4F12608B21A5}" srcOrd="0" destOrd="0" presId="urn:microsoft.com/office/officeart/2005/8/layout/default"/>
    <dgm:cxn modelId="{77ED8FCE-D8FC-4893-8423-17FA0322D784}" type="presParOf" srcId="{D9140CD7-2684-4E99-BB47-4F12608B21A5}" destId="{DB4B8468-1F23-40E7-8F9F-5E6CD7584628}" srcOrd="0" destOrd="0" presId="urn:microsoft.com/office/officeart/2005/8/layout/default"/>
    <dgm:cxn modelId="{4B8511BE-A711-46A9-8C3A-931DB3F24DA1}" type="presParOf" srcId="{D9140CD7-2684-4E99-BB47-4F12608B21A5}" destId="{FC190CD0-2E05-414B-AE34-BDBF66287035}" srcOrd="1" destOrd="0" presId="urn:microsoft.com/office/officeart/2005/8/layout/default"/>
    <dgm:cxn modelId="{A05F9357-DDE3-4605-921F-D0D61AB5C547}" type="presParOf" srcId="{D9140CD7-2684-4E99-BB47-4F12608B21A5}" destId="{03B1AB25-DD54-4D15-B945-A7E4C287FD3A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EAE5615-CCF0-4E45-9121-131B9337DC89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4F1A9A6-93F2-4186-A76F-50734BE2C805}">
      <dgm:prSet phldrT="[Text]"/>
      <dgm:spPr/>
      <dgm:t>
        <a:bodyPr/>
        <a:lstStyle/>
        <a:p>
          <a:r>
            <a:rPr lang="en-US" dirty="0"/>
            <a:t>Preprocessing</a:t>
          </a:r>
        </a:p>
      </dgm:t>
    </dgm:pt>
    <dgm:pt modelId="{30C7F3DA-6CC0-45D8-8990-28E39E22980D}" type="parTrans" cxnId="{D798D4EB-4B74-48E0-9452-0610902ABA56}">
      <dgm:prSet/>
      <dgm:spPr/>
      <dgm:t>
        <a:bodyPr/>
        <a:lstStyle/>
        <a:p>
          <a:endParaRPr lang="en-US"/>
        </a:p>
      </dgm:t>
    </dgm:pt>
    <dgm:pt modelId="{02A562BA-0B15-4B72-8E7D-684A39E9DA8A}" type="sibTrans" cxnId="{D798D4EB-4B74-48E0-9452-0610902ABA56}">
      <dgm:prSet/>
      <dgm:spPr/>
      <dgm:t>
        <a:bodyPr/>
        <a:lstStyle/>
        <a:p>
          <a:endParaRPr lang="en-US"/>
        </a:p>
      </dgm:t>
    </dgm:pt>
    <dgm:pt modelId="{7C7391CB-35A1-4116-848E-C189186DF87E}">
      <dgm:prSet phldrT="[Text]"/>
      <dgm:spPr/>
      <dgm:t>
        <a:bodyPr/>
        <a:lstStyle/>
        <a:p>
          <a:r>
            <a:rPr lang="en-US" dirty="0"/>
            <a:t>Clustering</a:t>
          </a:r>
        </a:p>
      </dgm:t>
    </dgm:pt>
    <dgm:pt modelId="{E947EA36-4924-46CC-91F9-3B6EE6856862}" type="parTrans" cxnId="{67B97090-A03C-4A55-B4D8-32A33629822F}">
      <dgm:prSet/>
      <dgm:spPr/>
      <dgm:t>
        <a:bodyPr/>
        <a:lstStyle/>
        <a:p>
          <a:endParaRPr lang="en-US"/>
        </a:p>
      </dgm:t>
    </dgm:pt>
    <dgm:pt modelId="{8E9B9696-DE3F-4595-B1EF-B1161C244F0E}" type="sibTrans" cxnId="{67B97090-A03C-4A55-B4D8-32A33629822F}">
      <dgm:prSet/>
      <dgm:spPr/>
      <dgm:t>
        <a:bodyPr/>
        <a:lstStyle/>
        <a:p>
          <a:endParaRPr lang="en-US"/>
        </a:p>
      </dgm:t>
    </dgm:pt>
    <dgm:pt modelId="{8C83652F-981B-4434-9B6D-B62E1AA89342}">
      <dgm:prSet phldrT="[Text]"/>
      <dgm:spPr/>
      <dgm:t>
        <a:bodyPr/>
        <a:lstStyle/>
        <a:p>
          <a:r>
            <a:rPr lang="en-US" dirty="0"/>
            <a:t>Train-Test-Split</a:t>
          </a:r>
        </a:p>
      </dgm:t>
    </dgm:pt>
    <dgm:pt modelId="{3C87FE1D-CAA5-4DB2-B662-D8C8A4DE3023}" type="parTrans" cxnId="{8BBF9386-A4D8-4C73-A340-A6A013808D02}">
      <dgm:prSet/>
      <dgm:spPr/>
      <dgm:t>
        <a:bodyPr/>
        <a:lstStyle/>
        <a:p>
          <a:endParaRPr lang="en-US"/>
        </a:p>
      </dgm:t>
    </dgm:pt>
    <dgm:pt modelId="{E78A97D0-D337-4EE7-A5E9-D8D41C4D280F}" type="sibTrans" cxnId="{8BBF9386-A4D8-4C73-A340-A6A013808D02}">
      <dgm:prSet/>
      <dgm:spPr/>
      <dgm:t>
        <a:bodyPr/>
        <a:lstStyle/>
        <a:p>
          <a:endParaRPr lang="en-US"/>
        </a:p>
      </dgm:t>
    </dgm:pt>
    <dgm:pt modelId="{D54FAF0C-45A8-4529-923F-BE1B8D7310DE}">
      <dgm:prSet phldrT="[Text]"/>
      <dgm:spPr/>
      <dgm:t>
        <a:bodyPr/>
        <a:lstStyle/>
        <a:p>
          <a:r>
            <a:rPr lang="en-US" dirty="0"/>
            <a:t>Model Training</a:t>
          </a:r>
        </a:p>
      </dgm:t>
    </dgm:pt>
    <dgm:pt modelId="{3137F5BB-713E-4F37-8632-F14BD1CA2B96}" type="parTrans" cxnId="{E352DE28-74DE-4948-B28F-72C7EAC3F5B4}">
      <dgm:prSet/>
      <dgm:spPr/>
      <dgm:t>
        <a:bodyPr/>
        <a:lstStyle/>
        <a:p>
          <a:endParaRPr lang="en-US"/>
        </a:p>
      </dgm:t>
    </dgm:pt>
    <dgm:pt modelId="{151FB0AF-11E9-4324-9FCD-8966EC8D5822}" type="sibTrans" cxnId="{E352DE28-74DE-4948-B28F-72C7EAC3F5B4}">
      <dgm:prSet/>
      <dgm:spPr/>
      <dgm:t>
        <a:bodyPr/>
        <a:lstStyle/>
        <a:p>
          <a:endParaRPr lang="en-US"/>
        </a:p>
      </dgm:t>
    </dgm:pt>
    <dgm:pt modelId="{75217780-7995-4EF1-B00D-5ACD7B362E8C}">
      <dgm:prSet phldrT="[Text]"/>
      <dgm:spPr/>
      <dgm:t>
        <a:bodyPr/>
        <a:lstStyle/>
        <a:p>
          <a:r>
            <a:rPr lang="en-US" dirty="0"/>
            <a:t>Model Evaluation</a:t>
          </a:r>
        </a:p>
      </dgm:t>
    </dgm:pt>
    <dgm:pt modelId="{06137B25-CF73-4957-8EC3-373CBC16A16A}" type="parTrans" cxnId="{70693005-42C9-4E93-8E57-A44BFB837E62}">
      <dgm:prSet/>
      <dgm:spPr/>
      <dgm:t>
        <a:bodyPr/>
        <a:lstStyle/>
        <a:p>
          <a:endParaRPr lang="en-US"/>
        </a:p>
      </dgm:t>
    </dgm:pt>
    <dgm:pt modelId="{E9C7A44B-6627-4FBF-9C92-83DB82E058E2}" type="sibTrans" cxnId="{70693005-42C9-4E93-8E57-A44BFB837E62}">
      <dgm:prSet/>
      <dgm:spPr/>
      <dgm:t>
        <a:bodyPr/>
        <a:lstStyle/>
        <a:p>
          <a:endParaRPr lang="en-US"/>
        </a:p>
      </dgm:t>
    </dgm:pt>
    <dgm:pt modelId="{AD4A34F0-75DC-4288-9CD8-247E19EC001A}" type="pres">
      <dgm:prSet presAssocID="{6EAE5615-CCF0-4E45-9121-131B9337DC89}" presName="rootnode" presStyleCnt="0">
        <dgm:presLayoutVars>
          <dgm:chMax/>
          <dgm:chPref/>
          <dgm:dir/>
          <dgm:animLvl val="lvl"/>
        </dgm:presLayoutVars>
      </dgm:prSet>
      <dgm:spPr/>
    </dgm:pt>
    <dgm:pt modelId="{4F2C12D5-C4AF-4E20-9D82-BAD0AACFC69A}" type="pres">
      <dgm:prSet presAssocID="{C4F1A9A6-93F2-4186-A76F-50734BE2C805}" presName="composite" presStyleCnt="0"/>
      <dgm:spPr/>
    </dgm:pt>
    <dgm:pt modelId="{0AC30A92-4C38-4F7C-B774-EDAF9EF7DC4C}" type="pres">
      <dgm:prSet presAssocID="{C4F1A9A6-93F2-4186-A76F-50734BE2C805}" presName="bentUpArrow1" presStyleLbl="alignImgPlace1" presStyleIdx="0" presStyleCnt="4"/>
      <dgm:spPr/>
    </dgm:pt>
    <dgm:pt modelId="{29D03D7E-F2BB-413D-BD60-54299F9CDD6C}" type="pres">
      <dgm:prSet presAssocID="{C4F1A9A6-93F2-4186-A76F-50734BE2C805}" presName="ParentText" presStyleLbl="node1" presStyleIdx="0" presStyleCnt="5">
        <dgm:presLayoutVars>
          <dgm:chMax val="1"/>
          <dgm:chPref val="1"/>
          <dgm:bulletEnabled val="1"/>
        </dgm:presLayoutVars>
      </dgm:prSet>
      <dgm:spPr/>
    </dgm:pt>
    <dgm:pt modelId="{390D6D52-F6CE-4BA8-B4C4-5B4DF37473DF}" type="pres">
      <dgm:prSet presAssocID="{C4F1A9A6-93F2-4186-A76F-50734BE2C805}" presName="ChildText" presStyleLbl="revTx" presStyleIdx="0" presStyleCnt="4">
        <dgm:presLayoutVars>
          <dgm:chMax val="0"/>
          <dgm:chPref val="0"/>
          <dgm:bulletEnabled val="1"/>
        </dgm:presLayoutVars>
      </dgm:prSet>
      <dgm:spPr/>
    </dgm:pt>
    <dgm:pt modelId="{5295102C-D2E9-4DF1-B18E-744969AB7269}" type="pres">
      <dgm:prSet presAssocID="{02A562BA-0B15-4B72-8E7D-684A39E9DA8A}" presName="sibTrans" presStyleCnt="0"/>
      <dgm:spPr/>
    </dgm:pt>
    <dgm:pt modelId="{70DD1A2F-BC5D-461C-A430-4FC728BFC2AF}" type="pres">
      <dgm:prSet presAssocID="{7C7391CB-35A1-4116-848E-C189186DF87E}" presName="composite" presStyleCnt="0"/>
      <dgm:spPr/>
    </dgm:pt>
    <dgm:pt modelId="{CA7A23F8-5B22-49C0-BDB7-61570F11BFDE}" type="pres">
      <dgm:prSet presAssocID="{7C7391CB-35A1-4116-848E-C189186DF87E}" presName="bentUpArrow1" presStyleLbl="alignImgPlace1" presStyleIdx="1" presStyleCnt="4"/>
      <dgm:spPr/>
    </dgm:pt>
    <dgm:pt modelId="{9EBA0389-E0DD-4DC6-8F1B-DE7B2423389D}" type="pres">
      <dgm:prSet presAssocID="{7C7391CB-35A1-4116-848E-C189186DF87E}" presName="ParentText" presStyleLbl="node1" presStyleIdx="1" presStyleCnt="5">
        <dgm:presLayoutVars>
          <dgm:chMax val="1"/>
          <dgm:chPref val="1"/>
          <dgm:bulletEnabled val="1"/>
        </dgm:presLayoutVars>
      </dgm:prSet>
      <dgm:spPr/>
    </dgm:pt>
    <dgm:pt modelId="{1049F2B8-D808-42A4-896C-43E48D9AAA79}" type="pres">
      <dgm:prSet presAssocID="{7C7391CB-35A1-4116-848E-C189186DF87E}" presName="ChildText" presStyleLbl="revTx" presStyleIdx="1" presStyleCnt="4">
        <dgm:presLayoutVars>
          <dgm:chMax val="0"/>
          <dgm:chPref val="0"/>
          <dgm:bulletEnabled val="1"/>
        </dgm:presLayoutVars>
      </dgm:prSet>
      <dgm:spPr/>
    </dgm:pt>
    <dgm:pt modelId="{A35078E8-50D4-4280-87B8-5182BAA608AD}" type="pres">
      <dgm:prSet presAssocID="{8E9B9696-DE3F-4595-B1EF-B1161C244F0E}" presName="sibTrans" presStyleCnt="0"/>
      <dgm:spPr/>
    </dgm:pt>
    <dgm:pt modelId="{DBB8F2D4-D751-4C6F-B1CB-18E858A58558}" type="pres">
      <dgm:prSet presAssocID="{8C83652F-981B-4434-9B6D-B62E1AA89342}" presName="composite" presStyleCnt="0"/>
      <dgm:spPr/>
    </dgm:pt>
    <dgm:pt modelId="{1A2F301B-EDD2-4C4F-8D5E-15BE9E5C800E}" type="pres">
      <dgm:prSet presAssocID="{8C83652F-981B-4434-9B6D-B62E1AA89342}" presName="bentUpArrow1" presStyleLbl="alignImgPlace1" presStyleIdx="2" presStyleCnt="4"/>
      <dgm:spPr/>
    </dgm:pt>
    <dgm:pt modelId="{0F6C9F67-2B1E-46D5-AEF6-8322F39D6112}" type="pres">
      <dgm:prSet presAssocID="{8C83652F-981B-4434-9B6D-B62E1AA89342}" presName="ParentText" presStyleLbl="node1" presStyleIdx="2" presStyleCnt="5">
        <dgm:presLayoutVars>
          <dgm:chMax val="1"/>
          <dgm:chPref val="1"/>
          <dgm:bulletEnabled val="1"/>
        </dgm:presLayoutVars>
      </dgm:prSet>
      <dgm:spPr/>
    </dgm:pt>
    <dgm:pt modelId="{151B3058-BD02-4989-871F-C339182F2ABF}" type="pres">
      <dgm:prSet presAssocID="{8C83652F-981B-4434-9B6D-B62E1AA89342}" presName="ChildText" presStyleLbl="revTx" presStyleIdx="2" presStyleCnt="4">
        <dgm:presLayoutVars>
          <dgm:chMax val="0"/>
          <dgm:chPref val="0"/>
          <dgm:bulletEnabled val="1"/>
        </dgm:presLayoutVars>
      </dgm:prSet>
      <dgm:spPr/>
    </dgm:pt>
    <dgm:pt modelId="{2442357F-928A-4B00-8AB6-354527C02FA4}" type="pres">
      <dgm:prSet presAssocID="{E78A97D0-D337-4EE7-A5E9-D8D41C4D280F}" presName="sibTrans" presStyleCnt="0"/>
      <dgm:spPr/>
    </dgm:pt>
    <dgm:pt modelId="{AA8BF47C-AB7E-4D1A-9C07-446A7271ED7D}" type="pres">
      <dgm:prSet presAssocID="{D54FAF0C-45A8-4529-923F-BE1B8D7310DE}" presName="composite" presStyleCnt="0"/>
      <dgm:spPr/>
    </dgm:pt>
    <dgm:pt modelId="{1919946A-1439-4C71-B608-6BFFB6CEE852}" type="pres">
      <dgm:prSet presAssocID="{D54FAF0C-45A8-4529-923F-BE1B8D7310DE}" presName="bentUpArrow1" presStyleLbl="alignImgPlace1" presStyleIdx="3" presStyleCnt="4"/>
      <dgm:spPr/>
    </dgm:pt>
    <dgm:pt modelId="{513B6052-54C1-4E34-84BD-9F47E91144DA}" type="pres">
      <dgm:prSet presAssocID="{D54FAF0C-45A8-4529-923F-BE1B8D7310DE}" presName="ParentText" presStyleLbl="node1" presStyleIdx="3" presStyleCnt="5">
        <dgm:presLayoutVars>
          <dgm:chMax val="1"/>
          <dgm:chPref val="1"/>
          <dgm:bulletEnabled val="1"/>
        </dgm:presLayoutVars>
      </dgm:prSet>
      <dgm:spPr/>
    </dgm:pt>
    <dgm:pt modelId="{D29C31DB-13A0-4E1B-AD4E-9CF46AE8E91F}" type="pres">
      <dgm:prSet presAssocID="{D54FAF0C-45A8-4529-923F-BE1B8D7310DE}" presName="ChildText" presStyleLbl="revTx" presStyleIdx="3" presStyleCnt="4">
        <dgm:presLayoutVars>
          <dgm:chMax val="0"/>
          <dgm:chPref val="0"/>
          <dgm:bulletEnabled val="1"/>
        </dgm:presLayoutVars>
      </dgm:prSet>
      <dgm:spPr/>
    </dgm:pt>
    <dgm:pt modelId="{E822657A-B10A-4765-AC81-FF7B22D92A03}" type="pres">
      <dgm:prSet presAssocID="{151FB0AF-11E9-4324-9FCD-8966EC8D5822}" presName="sibTrans" presStyleCnt="0"/>
      <dgm:spPr/>
    </dgm:pt>
    <dgm:pt modelId="{073A7E37-F3D2-4323-88B6-FF5B87C82F8D}" type="pres">
      <dgm:prSet presAssocID="{75217780-7995-4EF1-B00D-5ACD7B362E8C}" presName="composite" presStyleCnt="0"/>
      <dgm:spPr/>
    </dgm:pt>
    <dgm:pt modelId="{99E3A06D-36A1-4353-A241-C99AC60B0C2D}" type="pres">
      <dgm:prSet presAssocID="{75217780-7995-4EF1-B00D-5ACD7B362E8C}" presName="ParentText" presStyleLbl="node1" presStyleIdx="4" presStyleCnt="5">
        <dgm:presLayoutVars>
          <dgm:chMax val="1"/>
          <dgm:chPref val="1"/>
          <dgm:bulletEnabled val="1"/>
        </dgm:presLayoutVars>
      </dgm:prSet>
      <dgm:spPr/>
    </dgm:pt>
  </dgm:ptLst>
  <dgm:cxnLst>
    <dgm:cxn modelId="{70693005-42C9-4E93-8E57-A44BFB837E62}" srcId="{6EAE5615-CCF0-4E45-9121-131B9337DC89}" destId="{75217780-7995-4EF1-B00D-5ACD7B362E8C}" srcOrd="4" destOrd="0" parTransId="{06137B25-CF73-4957-8EC3-373CBC16A16A}" sibTransId="{E9C7A44B-6627-4FBF-9C92-83DB82E058E2}"/>
    <dgm:cxn modelId="{E352DE28-74DE-4948-B28F-72C7EAC3F5B4}" srcId="{6EAE5615-CCF0-4E45-9121-131B9337DC89}" destId="{D54FAF0C-45A8-4529-923F-BE1B8D7310DE}" srcOrd="3" destOrd="0" parTransId="{3137F5BB-713E-4F37-8632-F14BD1CA2B96}" sibTransId="{151FB0AF-11E9-4324-9FCD-8966EC8D5822}"/>
    <dgm:cxn modelId="{9EEDE432-5E57-40BA-9CE8-B15D293753F3}" type="presOf" srcId="{7C7391CB-35A1-4116-848E-C189186DF87E}" destId="{9EBA0389-E0DD-4DC6-8F1B-DE7B2423389D}" srcOrd="0" destOrd="0" presId="urn:microsoft.com/office/officeart/2005/8/layout/StepDownProcess"/>
    <dgm:cxn modelId="{5ACA3964-1581-479B-AA8F-F01EB6093912}" type="presOf" srcId="{8C83652F-981B-4434-9B6D-B62E1AA89342}" destId="{0F6C9F67-2B1E-46D5-AEF6-8322F39D6112}" srcOrd="0" destOrd="0" presId="urn:microsoft.com/office/officeart/2005/8/layout/StepDownProcess"/>
    <dgm:cxn modelId="{76290A66-8FE0-4F95-B4B0-BD041CC0602D}" type="presOf" srcId="{C4F1A9A6-93F2-4186-A76F-50734BE2C805}" destId="{29D03D7E-F2BB-413D-BD60-54299F9CDD6C}" srcOrd="0" destOrd="0" presId="urn:microsoft.com/office/officeart/2005/8/layout/StepDownProcess"/>
    <dgm:cxn modelId="{8BBF9386-A4D8-4C73-A340-A6A013808D02}" srcId="{6EAE5615-CCF0-4E45-9121-131B9337DC89}" destId="{8C83652F-981B-4434-9B6D-B62E1AA89342}" srcOrd="2" destOrd="0" parTransId="{3C87FE1D-CAA5-4DB2-B662-D8C8A4DE3023}" sibTransId="{E78A97D0-D337-4EE7-A5E9-D8D41C4D280F}"/>
    <dgm:cxn modelId="{67B97090-A03C-4A55-B4D8-32A33629822F}" srcId="{6EAE5615-CCF0-4E45-9121-131B9337DC89}" destId="{7C7391CB-35A1-4116-848E-C189186DF87E}" srcOrd="1" destOrd="0" parTransId="{E947EA36-4924-46CC-91F9-3B6EE6856862}" sibTransId="{8E9B9696-DE3F-4595-B1EF-B1161C244F0E}"/>
    <dgm:cxn modelId="{04FE21A7-429D-4C18-A636-79D5EC496A0B}" type="presOf" srcId="{D54FAF0C-45A8-4529-923F-BE1B8D7310DE}" destId="{513B6052-54C1-4E34-84BD-9F47E91144DA}" srcOrd="0" destOrd="0" presId="urn:microsoft.com/office/officeart/2005/8/layout/StepDownProcess"/>
    <dgm:cxn modelId="{7A8C61C4-B2DE-4A87-84BF-DE2D55FB381E}" type="presOf" srcId="{6EAE5615-CCF0-4E45-9121-131B9337DC89}" destId="{AD4A34F0-75DC-4288-9CD8-247E19EC001A}" srcOrd="0" destOrd="0" presId="urn:microsoft.com/office/officeart/2005/8/layout/StepDownProcess"/>
    <dgm:cxn modelId="{BA2FF1DF-F6EE-473E-9CD1-6438193E0C30}" type="presOf" srcId="{75217780-7995-4EF1-B00D-5ACD7B362E8C}" destId="{99E3A06D-36A1-4353-A241-C99AC60B0C2D}" srcOrd="0" destOrd="0" presId="urn:microsoft.com/office/officeart/2005/8/layout/StepDownProcess"/>
    <dgm:cxn modelId="{D798D4EB-4B74-48E0-9452-0610902ABA56}" srcId="{6EAE5615-CCF0-4E45-9121-131B9337DC89}" destId="{C4F1A9A6-93F2-4186-A76F-50734BE2C805}" srcOrd="0" destOrd="0" parTransId="{30C7F3DA-6CC0-45D8-8990-28E39E22980D}" sibTransId="{02A562BA-0B15-4B72-8E7D-684A39E9DA8A}"/>
    <dgm:cxn modelId="{1DB2DB0A-8F58-4A47-8769-9496663BFB5B}" type="presParOf" srcId="{AD4A34F0-75DC-4288-9CD8-247E19EC001A}" destId="{4F2C12D5-C4AF-4E20-9D82-BAD0AACFC69A}" srcOrd="0" destOrd="0" presId="urn:microsoft.com/office/officeart/2005/8/layout/StepDownProcess"/>
    <dgm:cxn modelId="{D3F4A1A2-106E-424C-A12F-FAEDD7BE1440}" type="presParOf" srcId="{4F2C12D5-C4AF-4E20-9D82-BAD0AACFC69A}" destId="{0AC30A92-4C38-4F7C-B774-EDAF9EF7DC4C}" srcOrd="0" destOrd="0" presId="urn:microsoft.com/office/officeart/2005/8/layout/StepDownProcess"/>
    <dgm:cxn modelId="{8F7AA10A-C6B6-4EAE-AE21-46079B380BE1}" type="presParOf" srcId="{4F2C12D5-C4AF-4E20-9D82-BAD0AACFC69A}" destId="{29D03D7E-F2BB-413D-BD60-54299F9CDD6C}" srcOrd="1" destOrd="0" presId="urn:microsoft.com/office/officeart/2005/8/layout/StepDownProcess"/>
    <dgm:cxn modelId="{9E8D04E3-6B2C-4E86-84C7-39E8F2B58194}" type="presParOf" srcId="{4F2C12D5-C4AF-4E20-9D82-BAD0AACFC69A}" destId="{390D6D52-F6CE-4BA8-B4C4-5B4DF37473DF}" srcOrd="2" destOrd="0" presId="urn:microsoft.com/office/officeart/2005/8/layout/StepDownProcess"/>
    <dgm:cxn modelId="{245B915D-A4F6-44FD-A3EE-5D96935FA4DC}" type="presParOf" srcId="{AD4A34F0-75DC-4288-9CD8-247E19EC001A}" destId="{5295102C-D2E9-4DF1-B18E-744969AB7269}" srcOrd="1" destOrd="0" presId="urn:microsoft.com/office/officeart/2005/8/layout/StepDownProcess"/>
    <dgm:cxn modelId="{F2ED6D5D-D070-4005-BCA7-91B441176365}" type="presParOf" srcId="{AD4A34F0-75DC-4288-9CD8-247E19EC001A}" destId="{70DD1A2F-BC5D-461C-A430-4FC728BFC2AF}" srcOrd="2" destOrd="0" presId="urn:microsoft.com/office/officeart/2005/8/layout/StepDownProcess"/>
    <dgm:cxn modelId="{2A8FB19D-40A8-4EE1-A872-8015FF82A7C6}" type="presParOf" srcId="{70DD1A2F-BC5D-461C-A430-4FC728BFC2AF}" destId="{CA7A23F8-5B22-49C0-BDB7-61570F11BFDE}" srcOrd="0" destOrd="0" presId="urn:microsoft.com/office/officeart/2005/8/layout/StepDownProcess"/>
    <dgm:cxn modelId="{5D015644-A831-4D40-B4BB-01ED951050AD}" type="presParOf" srcId="{70DD1A2F-BC5D-461C-A430-4FC728BFC2AF}" destId="{9EBA0389-E0DD-4DC6-8F1B-DE7B2423389D}" srcOrd="1" destOrd="0" presId="urn:microsoft.com/office/officeart/2005/8/layout/StepDownProcess"/>
    <dgm:cxn modelId="{796784F3-986A-4348-BFD3-F96770E47C10}" type="presParOf" srcId="{70DD1A2F-BC5D-461C-A430-4FC728BFC2AF}" destId="{1049F2B8-D808-42A4-896C-43E48D9AAA79}" srcOrd="2" destOrd="0" presId="urn:microsoft.com/office/officeart/2005/8/layout/StepDownProcess"/>
    <dgm:cxn modelId="{97AF32B5-7D1C-440B-A6BA-6E979F495E55}" type="presParOf" srcId="{AD4A34F0-75DC-4288-9CD8-247E19EC001A}" destId="{A35078E8-50D4-4280-87B8-5182BAA608AD}" srcOrd="3" destOrd="0" presId="urn:microsoft.com/office/officeart/2005/8/layout/StepDownProcess"/>
    <dgm:cxn modelId="{D4A6F4C2-1D1A-40AF-826F-14356A375D67}" type="presParOf" srcId="{AD4A34F0-75DC-4288-9CD8-247E19EC001A}" destId="{DBB8F2D4-D751-4C6F-B1CB-18E858A58558}" srcOrd="4" destOrd="0" presId="urn:microsoft.com/office/officeart/2005/8/layout/StepDownProcess"/>
    <dgm:cxn modelId="{5DD3E465-961D-4433-9DC0-58FD3F40C513}" type="presParOf" srcId="{DBB8F2D4-D751-4C6F-B1CB-18E858A58558}" destId="{1A2F301B-EDD2-4C4F-8D5E-15BE9E5C800E}" srcOrd="0" destOrd="0" presId="urn:microsoft.com/office/officeart/2005/8/layout/StepDownProcess"/>
    <dgm:cxn modelId="{19008765-5E46-4C8D-BC24-5A7ECBA3CEB8}" type="presParOf" srcId="{DBB8F2D4-D751-4C6F-B1CB-18E858A58558}" destId="{0F6C9F67-2B1E-46D5-AEF6-8322F39D6112}" srcOrd="1" destOrd="0" presId="urn:microsoft.com/office/officeart/2005/8/layout/StepDownProcess"/>
    <dgm:cxn modelId="{550B7D16-9114-4335-BFB3-E0BDA2356E36}" type="presParOf" srcId="{DBB8F2D4-D751-4C6F-B1CB-18E858A58558}" destId="{151B3058-BD02-4989-871F-C339182F2ABF}" srcOrd="2" destOrd="0" presId="urn:microsoft.com/office/officeart/2005/8/layout/StepDownProcess"/>
    <dgm:cxn modelId="{A0D99E0F-C6C0-49B6-B68A-EAAFAACD49E9}" type="presParOf" srcId="{AD4A34F0-75DC-4288-9CD8-247E19EC001A}" destId="{2442357F-928A-4B00-8AB6-354527C02FA4}" srcOrd="5" destOrd="0" presId="urn:microsoft.com/office/officeart/2005/8/layout/StepDownProcess"/>
    <dgm:cxn modelId="{7528F94A-FF4C-477F-B20D-6DBACB59310A}" type="presParOf" srcId="{AD4A34F0-75DC-4288-9CD8-247E19EC001A}" destId="{AA8BF47C-AB7E-4D1A-9C07-446A7271ED7D}" srcOrd="6" destOrd="0" presId="urn:microsoft.com/office/officeart/2005/8/layout/StepDownProcess"/>
    <dgm:cxn modelId="{6A820C3B-0BB2-4918-B2F6-A544C4043563}" type="presParOf" srcId="{AA8BF47C-AB7E-4D1A-9C07-446A7271ED7D}" destId="{1919946A-1439-4C71-B608-6BFFB6CEE852}" srcOrd="0" destOrd="0" presId="urn:microsoft.com/office/officeart/2005/8/layout/StepDownProcess"/>
    <dgm:cxn modelId="{0B742423-B3FB-4A46-AFC0-04CA74F90B63}" type="presParOf" srcId="{AA8BF47C-AB7E-4D1A-9C07-446A7271ED7D}" destId="{513B6052-54C1-4E34-84BD-9F47E91144DA}" srcOrd="1" destOrd="0" presId="urn:microsoft.com/office/officeart/2005/8/layout/StepDownProcess"/>
    <dgm:cxn modelId="{60E35202-050E-4A83-B8FF-38A16CE9FD68}" type="presParOf" srcId="{AA8BF47C-AB7E-4D1A-9C07-446A7271ED7D}" destId="{D29C31DB-13A0-4E1B-AD4E-9CF46AE8E91F}" srcOrd="2" destOrd="0" presId="urn:microsoft.com/office/officeart/2005/8/layout/StepDownProcess"/>
    <dgm:cxn modelId="{2E2DFD3C-D881-439E-A815-2D8FD1B42AC5}" type="presParOf" srcId="{AD4A34F0-75DC-4288-9CD8-247E19EC001A}" destId="{E822657A-B10A-4765-AC81-FF7B22D92A03}" srcOrd="7" destOrd="0" presId="urn:microsoft.com/office/officeart/2005/8/layout/StepDownProcess"/>
    <dgm:cxn modelId="{4AEB78D7-5C45-4FF4-BF29-1D9C7E0C3463}" type="presParOf" srcId="{AD4A34F0-75DC-4288-9CD8-247E19EC001A}" destId="{073A7E37-F3D2-4323-88B6-FF5B87C82F8D}" srcOrd="8" destOrd="0" presId="urn:microsoft.com/office/officeart/2005/8/layout/StepDownProcess"/>
    <dgm:cxn modelId="{091EC335-0400-4BA9-A507-2EFD619110B1}" type="presParOf" srcId="{073A7E37-F3D2-4323-88B6-FF5B87C82F8D}" destId="{99E3A06D-36A1-4353-A241-C99AC60B0C2D}" srcOrd="0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4D74BA5-378B-42A5-8E80-BFEA988D3CC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B558E25-F3D0-4BC9-B4A0-82265D5B22A6}">
      <dgm:prSet/>
      <dgm:spPr/>
      <dgm:t>
        <a:bodyPr/>
        <a:lstStyle/>
        <a:p>
          <a:r>
            <a:rPr lang="en-US" dirty="0"/>
            <a:t>Use </a:t>
          </a:r>
          <a:r>
            <a:rPr lang="en-US" b="1" dirty="0"/>
            <a:t>SMOTE</a:t>
          </a:r>
          <a:r>
            <a:rPr lang="en-US" dirty="0"/>
            <a:t> or cost-sensitive learning to address class </a:t>
          </a:r>
          <a:r>
            <a:rPr lang="en-US" b="1" dirty="0"/>
            <a:t>imbalance</a:t>
          </a:r>
          <a:r>
            <a:rPr lang="en-US" dirty="0"/>
            <a:t>. </a:t>
          </a:r>
        </a:p>
      </dgm:t>
    </dgm:pt>
    <dgm:pt modelId="{E9EF684D-6681-4166-8253-2ADA7ED80E0F}" type="parTrans" cxnId="{35780091-C41D-4E91-902D-9E73DD542408}">
      <dgm:prSet/>
      <dgm:spPr/>
      <dgm:t>
        <a:bodyPr/>
        <a:lstStyle/>
        <a:p>
          <a:endParaRPr lang="en-US"/>
        </a:p>
      </dgm:t>
    </dgm:pt>
    <dgm:pt modelId="{66FF5731-2159-4192-A583-E114F5B8DCAB}" type="sibTrans" cxnId="{35780091-C41D-4E91-902D-9E73DD542408}">
      <dgm:prSet/>
      <dgm:spPr/>
      <dgm:t>
        <a:bodyPr/>
        <a:lstStyle/>
        <a:p>
          <a:endParaRPr lang="en-US"/>
        </a:p>
      </dgm:t>
    </dgm:pt>
    <dgm:pt modelId="{E0E0C80D-0857-4CC0-9AE9-C27E22E25C6D}">
      <dgm:prSet/>
      <dgm:spPr/>
      <dgm:t>
        <a:bodyPr/>
        <a:lstStyle/>
        <a:p>
          <a:r>
            <a:rPr lang="en-US"/>
            <a:t>Explore rule-based models + ML hybrid.</a:t>
          </a:r>
        </a:p>
      </dgm:t>
    </dgm:pt>
    <dgm:pt modelId="{28C4E3A7-652D-47A6-A16D-94C646373DA9}" type="parTrans" cxnId="{3D57441F-0DC8-4CA5-B134-6EE0B2ADCB45}">
      <dgm:prSet/>
      <dgm:spPr/>
      <dgm:t>
        <a:bodyPr/>
        <a:lstStyle/>
        <a:p>
          <a:endParaRPr lang="en-US"/>
        </a:p>
      </dgm:t>
    </dgm:pt>
    <dgm:pt modelId="{C4E70663-0593-4225-AD87-5EBEF7ABBA47}" type="sibTrans" cxnId="{3D57441F-0DC8-4CA5-B134-6EE0B2ADCB45}">
      <dgm:prSet/>
      <dgm:spPr/>
      <dgm:t>
        <a:bodyPr/>
        <a:lstStyle/>
        <a:p>
          <a:endParaRPr lang="en-US"/>
        </a:p>
      </dgm:t>
    </dgm:pt>
    <dgm:pt modelId="{CDAB2E35-96A1-458B-8B52-618E149C10A5}">
      <dgm:prSet/>
      <dgm:spPr/>
      <dgm:t>
        <a:bodyPr/>
        <a:lstStyle/>
        <a:p>
          <a:r>
            <a:rPr lang="en-US"/>
            <a:t>Incorporate </a:t>
          </a:r>
          <a:r>
            <a:rPr lang="en-US" b="1"/>
            <a:t>clinical features like severity or procedure types</a:t>
          </a:r>
          <a:r>
            <a:rPr lang="en-US"/>
            <a:t> more directly</a:t>
          </a:r>
        </a:p>
      </dgm:t>
    </dgm:pt>
    <dgm:pt modelId="{3864C797-1E93-4D91-AA12-2DE524C871A3}" type="parTrans" cxnId="{5A057B29-52BE-4A57-AC11-458A48B00022}">
      <dgm:prSet/>
      <dgm:spPr/>
      <dgm:t>
        <a:bodyPr/>
        <a:lstStyle/>
        <a:p>
          <a:endParaRPr lang="en-US"/>
        </a:p>
      </dgm:t>
    </dgm:pt>
    <dgm:pt modelId="{5F48210E-010A-40B2-8650-F912AE8427D1}" type="sibTrans" cxnId="{5A057B29-52BE-4A57-AC11-458A48B00022}">
      <dgm:prSet/>
      <dgm:spPr/>
      <dgm:t>
        <a:bodyPr/>
        <a:lstStyle/>
        <a:p>
          <a:endParaRPr lang="en-US"/>
        </a:p>
      </dgm:t>
    </dgm:pt>
    <dgm:pt modelId="{CB29205A-A4E9-4074-93D6-3EE77310C903}" type="pres">
      <dgm:prSet presAssocID="{34D74BA5-378B-42A5-8E80-BFEA988D3CC8}" presName="root" presStyleCnt="0">
        <dgm:presLayoutVars>
          <dgm:dir/>
          <dgm:resizeHandles val="exact"/>
        </dgm:presLayoutVars>
      </dgm:prSet>
      <dgm:spPr/>
    </dgm:pt>
    <dgm:pt modelId="{C221A489-0C27-4252-96A9-EA817F69AB56}" type="pres">
      <dgm:prSet presAssocID="{1B558E25-F3D0-4BC9-B4A0-82265D5B22A6}" presName="compNode" presStyleCnt="0"/>
      <dgm:spPr/>
    </dgm:pt>
    <dgm:pt modelId="{046B321F-979D-4F9E-9F83-4E796A6A97BA}" type="pres">
      <dgm:prSet presAssocID="{1B558E25-F3D0-4BC9-B4A0-82265D5B22A6}" presName="bgRect" presStyleLbl="bgShp" presStyleIdx="0" presStyleCnt="3"/>
      <dgm:spPr/>
    </dgm:pt>
    <dgm:pt modelId="{8C930534-94E4-4DC0-A624-23A843DA8871}" type="pres">
      <dgm:prSet presAssocID="{1B558E25-F3D0-4BC9-B4A0-82265D5B22A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4BF35660-5DCA-40F7-9470-C7F3CF608E15}" type="pres">
      <dgm:prSet presAssocID="{1B558E25-F3D0-4BC9-B4A0-82265D5B22A6}" presName="spaceRect" presStyleCnt="0"/>
      <dgm:spPr/>
    </dgm:pt>
    <dgm:pt modelId="{7204B91B-8E17-4B54-ADAA-A89317581E91}" type="pres">
      <dgm:prSet presAssocID="{1B558E25-F3D0-4BC9-B4A0-82265D5B22A6}" presName="parTx" presStyleLbl="revTx" presStyleIdx="0" presStyleCnt="3">
        <dgm:presLayoutVars>
          <dgm:chMax val="0"/>
          <dgm:chPref val="0"/>
        </dgm:presLayoutVars>
      </dgm:prSet>
      <dgm:spPr/>
    </dgm:pt>
    <dgm:pt modelId="{71D75893-C5BE-49A4-B0B9-438D4A51E183}" type="pres">
      <dgm:prSet presAssocID="{66FF5731-2159-4192-A583-E114F5B8DCAB}" presName="sibTrans" presStyleCnt="0"/>
      <dgm:spPr/>
    </dgm:pt>
    <dgm:pt modelId="{CF814EC7-E13D-4233-A344-6BD353EA84DD}" type="pres">
      <dgm:prSet presAssocID="{E0E0C80D-0857-4CC0-9AE9-C27E22E25C6D}" presName="compNode" presStyleCnt="0"/>
      <dgm:spPr/>
    </dgm:pt>
    <dgm:pt modelId="{0CC64771-1035-491A-8413-480DD30BD332}" type="pres">
      <dgm:prSet presAssocID="{E0E0C80D-0857-4CC0-9AE9-C27E22E25C6D}" presName="bgRect" presStyleLbl="bgShp" presStyleIdx="1" presStyleCnt="3"/>
      <dgm:spPr/>
    </dgm:pt>
    <dgm:pt modelId="{6BF92057-13C8-4D38-B035-51F8C8E9B9EA}" type="pres">
      <dgm:prSet presAssocID="{E0E0C80D-0857-4CC0-9AE9-C27E22E25C6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rcular Flowchart"/>
        </a:ext>
      </dgm:extLst>
    </dgm:pt>
    <dgm:pt modelId="{CE014161-52A8-4279-9E19-CE5C50674BD7}" type="pres">
      <dgm:prSet presAssocID="{E0E0C80D-0857-4CC0-9AE9-C27E22E25C6D}" presName="spaceRect" presStyleCnt="0"/>
      <dgm:spPr/>
    </dgm:pt>
    <dgm:pt modelId="{0ACF4147-2696-4F2F-9EE9-8EBD5C8B082F}" type="pres">
      <dgm:prSet presAssocID="{E0E0C80D-0857-4CC0-9AE9-C27E22E25C6D}" presName="parTx" presStyleLbl="revTx" presStyleIdx="1" presStyleCnt="3">
        <dgm:presLayoutVars>
          <dgm:chMax val="0"/>
          <dgm:chPref val="0"/>
        </dgm:presLayoutVars>
      </dgm:prSet>
      <dgm:spPr/>
    </dgm:pt>
    <dgm:pt modelId="{9525BC7B-2171-47D6-9F3B-38FA10BDDFFA}" type="pres">
      <dgm:prSet presAssocID="{C4E70663-0593-4225-AD87-5EBEF7ABBA47}" presName="sibTrans" presStyleCnt="0"/>
      <dgm:spPr/>
    </dgm:pt>
    <dgm:pt modelId="{2CBBB98A-EB0A-4505-A818-CBC8FB1AA33E}" type="pres">
      <dgm:prSet presAssocID="{CDAB2E35-96A1-458B-8B52-618E149C10A5}" presName="compNode" presStyleCnt="0"/>
      <dgm:spPr/>
    </dgm:pt>
    <dgm:pt modelId="{B6C8363C-1FA8-4F5D-8618-9617341EEADC}" type="pres">
      <dgm:prSet presAssocID="{CDAB2E35-96A1-458B-8B52-618E149C10A5}" presName="bgRect" presStyleLbl="bgShp" presStyleIdx="2" presStyleCnt="3"/>
      <dgm:spPr/>
    </dgm:pt>
    <dgm:pt modelId="{092B119F-0584-4041-8B4D-8FE7166DA50A}" type="pres">
      <dgm:prSet presAssocID="{CDAB2E35-96A1-458B-8B52-618E149C10A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A4DE362C-000F-47F3-88A0-D1D24C72A102}" type="pres">
      <dgm:prSet presAssocID="{CDAB2E35-96A1-458B-8B52-618E149C10A5}" presName="spaceRect" presStyleCnt="0"/>
      <dgm:spPr/>
    </dgm:pt>
    <dgm:pt modelId="{3A9335F9-5166-44C8-9D57-0289BCB5625A}" type="pres">
      <dgm:prSet presAssocID="{CDAB2E35-96A1-458B-8B52-618E149C10A5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3D57441F-0DC8-4CA5-B134-6EE0B2ADCB45}" srcId="{34D74BA5-378B-42A5-8E80-BFEA988D3CC8}" destId="{E0E0C80D-0857-4CC0-9AE9-C27E22E25C6D}" srcOrd="1" destOrd="0" parTransId="{28C4E3A7-652D-47A6-A16D-94C646373DA9}" sibTransId="{C4E70663-0593-4225-AD87-5EBEF7ABBA47}"/>
    <dgm:cxn modelId="{5A057B29-52BE-4A57-AC11-458A48B00022}" srcId="{34D74BA5-378B-42A5-8E80-BFEA988D3CC8}" destId="{CDAB2E35-96A1-458B-8B52-618E149C10A5}" srcOrd="2" destOrd="0" parTransId="{3864C797-1E93-4D91-AA12-2DE524C871A3}" sibTransId="{5F48210E-010A-40B2-8650-F912AE8427D1}"/>
    <dgm:cxn modelId="{35780091-C41D-4E91-902D-9E73DD542408}" srcId="{34D74BA5-378B-42A5-8E80-BFEA988D3CC8}" destId="{1B558E25-F3D0-4BC9-B4A0-82265D5B22A6}" srcOrd="0" destOrd="0" parTransId="{E9EF684D-6681-4166-8253-2ADA7ED80E0F}" sibTransId="{66FF5731-2159-4192-A583-E114F5B8DCAB}"/>
    <dgm:cxn modelId="{734B759A-3A59-47F3-B9FA-A2B46F4C19E5}" type="presOf" srcId="{34D74BA5-378B-42A5-8E80-BFEA988D3CC8}" destId="{CB29205A-A4E9-4074-93D6-3EE77310C903}" srcOrd="0" destOrd="0" presId="urn:microsoft.com/office/officeart/2018/2/layout/IconVerticalSolidList"/>
    <dgm:cxn modelId="{88E467A5-079D-46B6-BFE4-474249C9F12D}" type="presOf" srcId="{CDAB2E35-96A1-458B-8B52-618E149C10A5}" destId="{3A9335F9-5166-44C8-9D57-0289BCB5625A}" srcOrd="0" destOrd="0" presId="urn:microsoft.com/office/officeart/2018/2/layout/IconVerticalSolidList"/>
    <dgm:cxn modelId="{B8E9DDAA-4EF8-4DF2-AE0D-065C910B5381}" type="presOf" srcId="{E0E0C80D-0857-4CC0-9AE9-C27E22E25C6D}" destId="{0ACF4147-2696-4F2F-9EE9-8EBD5C8B082F}" srcOrd="0" destOrd="0" presId="urn:microsoft.com/office/officeart/2018/2/layout/IconVerticalSolidList"/>
    <dgm:cxn modelId="{EE8140F9-1985-481B-9A50-A9B841D7A7A1}" type="presOf" srcId="{1B558E25-F3D0-4BC9-B4A0-82265D5B22A6}" destId="{7204B91B-8E17-4B54-ADAA-A89317581E91}" srcOrd="0" destOrd="0" presId="urn:microsoft.com/office/officeart/2018/2/layout/IconVerticalSolidList"/>
    <dgm:cxn modelId="{843D07A4-D3B1-4D96-BCDE-FC4413F24AB8}" type="presParOf" srcId="{CB29205A-A4E9-4074-93D6-3EE77310C903}" destId="{C221A489-0C27-4252-96A9-EA817F69AB56}" srcOrd="0" destOrd="0" presId="urn:microsoft.com/office/officeart/2018/2/layout/IconVerticalSolidList"/>
    <dgm:cxn modelId="{652F1FE0-7D5D-44BA-897C-636306CC6750}" type="presParOf" srcId="{C221A489-0C27-4252-96A9-EA817F69AB56}" destId="{046B321F-979D-4F9E-9F83-4E796A6A97BA}" srcOrd="0" destOrd="0" presId="urn:microsoft.com/office/officeart/2018/2/layout/IconVerticalSolidList"/>
    <dgm:cxn modelId="{11C7CFCE-C8D7-4DFD-8150-5145C4295382}" type="presParOf" srcId="{C221A489-0C27-4252-96A9-EA817F69AB56}" destId="{8C930534-94E4-4DC0-A624-23A843DA8871}" srcOrd="1" destOrd="0" presId="urn:microsoft.com/office/officeart/2018/2/layout/IconVerticalSolidList"/>
    <dgm:cxn modelId="{07B955E8-A6EA-44F3-A490-680777804C0C}" type="presParOf" srcId="{C221A489-0C27-4252-96A9-EA817F69AB56}" destId="{4BF35660-5DCA-40F7-9470-C7F3CF608E15}" srcOrd="2" destOrd="0" presId="urn:microsoft.com/office/officeart/2018/2/layout/IconVerticalSolidList"/>
    <dgm:cxn modelId="{5DA8CA91-605A-4C23-A02F-BE0CE2213216}" type="presParOf" srcId="{C221A489-0C27-4252-96A9-EA817F69AB56}" destId="{7204B91B-8E17-4B54-ADAA-A89317581E91}" srcOrd="3" destOrd="0" presId="urn:microsoft.com/office/officeart/2018/2/layout/IconVerticalSolidList"/>
    <dgm:cxn modelId="{09EF9CD2-6C00-4C6E-91AB-52DF77B70B6E}" type="presParOf" srcId="{CB29205A-A4E9-4074-93D6-3EE77310C903}" destId="{71D75893-C5BE-49A4-B0B9-438D4A51E183}" srcOrd="1" destOrd="0" presId="urn:microsoft.com/office/officeart/2018/2/layout/IconVerticalSolidList"/>
    <dgm:cxn modelId="{ECCEBBDF-71A2-47BB-AE0D-530D31D62B93}" type="presParOf" srcId="{CB29205A-A4E9-4074-93D6-3EE77310C903}" destId="{CF814EC7-E13D-4233-A344-6BD353EA84DD}" srcOrd="2" destOrd="0" presId="urn:microsoft.com/office/officeart/2018/2/layout/IconVerticalSolidList"/>
    <dgm:cxn modelId="{0D42E3B1-02EF-4027-AA85-00C1C94F3F90}" type="presParOf" srcId="{CF814EC7-E13D-4233-A344-6BD353EA84DD}" destId="{0CC64771-1035-491A-8413-480DD30BD332}" srcOrd="0" destOrd="0" presId="urn:microsoft.com/office/officeart/2018/2/layout/IconVerticalSolidList"/>
    <dgm:cxn modelId="{5A62C3FD-2FBB-42F7-A188-B7FF386B4C63}" type="presParOf" srcId="{CF814EC7-E13D-4233-A344-6BD353EA84DD}" destId="{6BF92057-13C8-4D38-B035-51F8C8E9B9EA}" srcOrd="1" destOrd="0" presId="urn:microsoft.com/office/officeart/2018/2/layout/IconVerticalSolidList"/>
    <dgm:cxn modelId="{051177CE-CAA6-4AEB-8128-9B8255769EFC}" type="presParOf" srcId="{CF814EC7-E13D-4233-A344-6BD353EA84DD}" destId="{CE014161-52A8-4279-9E19-CE5C50674BD7}" srcOrd="2" destOrd="0" presId="urn:microsoft.com/office/officeart/2018/2/layout/IconVerticalSolidList"/>
    <dgm:cxn modelId="{D9723564-3EF3-46E9-AAB7-4EB680D271BA}" type="presParOf" srcId="{CF814EC7-E13D-4233-A344-6BD353EA84DD}" destId="{0ACF4147-2696-4F2F-9EE9-8EBD5C8B082F}" srcOrd="3" destOrd="0" presId="urn:microsoft.com/office/officeart/2018/2/layout/IconVerticalSolidList"/>
    <dgm:cxn modelId="{93846D2B-A06C-4D92-B7DA-3520F7E1A96D}" type="presParOf" srcId="{CB29205A-A4E9-4074-93D6-3EE77310C903}" destId="{9525BC7B-2171-47D6-9F3B-38FA10BDDFFA}" srcOrd="3" destOrd="0" presId="urn:microsoft.com/office/officeart/2018/2/layout/IconVerticalSolidList"/>
    <dgm:cxn modelId="{E065D7AC-F4C0-4F4E-A2F6-A82446482D83}" type="presParOf" srcId="{CB29205A-A4E9-4074-93D6-3EE77310C903}" destId="{2CBBB98A-EB0A-4505-A818-CBC8FB1AA33E}" srcOrd="4" destOrd="0" presId="urn:microsoft.com/office/officeart/2018/2/layout/IconVerticalSolidList"/>
    <dgm:cxn modelId="{C1D0AAEB-FE83-49A7-BF5C-40D861343D2A}" type="presParOf" srcId="{2CBBB98A-EB0A-4505-A818-CBC8FB1AA33E}" destId="{B6C8363C-1FA8-4F5D-8618-9617341EEADC}" srcOrd="0" destOrd="0" presId="urn:microsoft.com/office/officeart/2018/2/layout/IconVerticalSolidList"/>
    <dgm:cxn modelId="{935F8FC7-FF2B-41A7-8799-21E6B5973305}" type="presParOf" srcId="{2CBBB98A-EB0A-4505-A818-CBC8FB1AA33E}" destId="{092B119F-0584-4041-8B4D-8FE7166DA50A}" srcOrd="1" destOrd="0" presId="urn:microsoft.com/office/officeart/2018/2/layout/IconVerticalSolidList"/>
    <dgm:cxn modelId="{F71EFBE1-E096-4B17-B4A4-C20EF9D57972}" type="presParOf" srcId="{2CBBB98A-EB0A-4505-A818-CBC8FB1AA33E}" destId="{A4DE362C-000F-47F3-88A0-D1D24C72A102}" srcOrd="2" destOrd="0" presId="urn:microsoft.com/office/officeart/2018/2/layout/IconVerticalSolidList"/>
    <dgm:cxn modelId="{ABCFAED5-7DA7-437C-A548-09F72D119E41}" type="presParOf" srcId="{2CBBB98A-EB0A-4505-A818-CBC8FB1AA33E}" destId="{3A9335F9-5166-44C8-9D57-0289BCB5625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63A626C-C3E5-4591-8423-5F59BB3B3EAC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B518671-87C5-4B1B-B717-E3AB4E2F20CF}">
      <dgm:prSet/>
      <dgm:spPr/>
      <dgm:t>
        <a:bodyPr/>
        <a:lstStyle/>
        <a:p>
          <a:r>
            <a:rPr lang="en-US"/>
            <a:t>ML can predict readmissions with high accuracy.</a:t>
          </a:r>
        </a:p>
      </dgm:t>
    </dgm:pt>
    <dgm:pt modelId="{A69A486C-D8FB-4635-9305-5E3B8FC12A5C}" type="parTrans" cxnId="{FCBA967F-40B4-4ACD-8ABE-3F5FB5DED1DD}">
      <dgm:prSet/>
      <dgm:spPr/>
      <dgm:t>
        <a:bodyPr/>
        <a:lstStyle/>
        <a:p>
          <a:endParaRPr lang="en-US"/>
        </a:p>
      </dgm:t>
    </dgm:pt>
    <dgm:pt modelId="{08948BEB-C3F3-422C-99DC-D7A3C3619C55}" type="sibTrans" cxnId="{FCBA967F-40B4-4ACD-8ABE-3F5FB5DED1DD}">
      <dgm:prSet/>
      <dgm:spPr/>
      <dgm:t>
        <a:bodyPr/>
        <a:lstStyle/>
        <a:p>
          <a:endParaRPr lang="en-US"/>
        </a:p>
      </dgm:t>
    </dgm:pt>
    <dgm:pt modelId="{60DB01E7-7DC6-49BE-AB4C-08C68D02C5F6}">
      <dgm:prSet/>
      <dgm:spPr/>
      <dgm:t>
        <a:bodyPr/>
        <a:lstStyle/>
        <a:p>
          <a:r>
            <a:rPr lang="en-US"/>
            <a:t>Random Forest is promising</a:t>
          </a:r>
        </a:p>
      </dgm:t>
    </dgm:pt>
    <dgm:pt modelId="{C77D5C24-1725-4A52-8BDA-2DBB316B0228}" type="parTrans" cxnId="{4B8AD781-8D9B-4DB3-96AF-7838FD285F11}">
      <dgm:prSet/>
      <dgm:spPr/>
      <dgm:t>
        <a:bodyPr/>
        <a:lstStyle/>
        <a:p>
          <a:endParaRPr lang="en-US"/>
        </a:p>
      </dgm:t>
    </dgm:pt>
    <dgm:pt modelId="{FA880F34-73F7-4EBA-902B-288D990269AF}" type="sibTrans" cxnId="{4B8AD781-8D9B-4DB3-96AF-7838FD285F11}">
      <dgm:prSet/>
      <dgm:spPr/>
      <dgm:t>
        <a:bodyPr/>
        <a:lstStyle/>
        <a:p>
          <a:endParaRPr lang="en-US"/>
        </a:p>
      </dgm:t>
    </dgm:pt>
    <dgm:pt modelId="{11ACD066-673F-4C40-8B69-9669AFF4D995}">
      <dgm:prSet/>
      <dgm:spPr/>
      <dgm:t>
        <a:bodyPr/>
        <a:lstStyle/>
        <a:p>
          <a:r>
            <a:rPr lang="en-US"/>
            <a:t>Clustering reveals meaningful patient segments</a:t>
          </a:r>
        </a:p>
      </dgm:t>
    </dgm:pt>
    <dgm:pt modelId="{3F773063-1A55-48C5-9E7A-2B32DC59BF17}" type="parTrans" cxnId="{AF5D3553-65C0-466B-8D9A-D68403880C37}">
      <dgm:prSet/>
      <dgm:spPr/>
      <dgm:t>
        <a:bodyPr/>
        <a:lstStyle/>
        <a:p>
          <a:endParaRPr lang="en-US"/>
        </a:p>
      </dgm:t>
    </dgm:pt>
    <dgm:pt modelId="{D05B806D-861A-431A-B2C4-29A61D45C4EA}" type="sibTrans" cxnId="{AF5D3553-65C0-466B-8D9A-D68403880C37}">
      <dgm:prSet/>
      <dgm:spPr/>
      <dgm:t>
        <a:bodyPr/>
        <a:lstStyle/>
        <a:p>
          <a:endParaRPr lang="en-US"/>
        </a:p>
      </dgm:t>
    </dgm:pt>
    <dgm:pt modelId="{2BE1D6C2-287A-4AD7-BEBF-FA730638DBFA}">
      <dgm:prSet/>
      <dgm:spPr/>
      <dgm:t>
        <a:bodyPr/>
        <a:lstStyle/>
        <a:p>
          <a:r>
            <a:rPr lang="en-US"/>
            <a:t>Next step: Improve interpretability &amp; clinical adoption</a:t>
          </a:r>
        </a:p>
      </dgm:t>
    </dgm:pt>
    <dgm:pt modelId="{D2ECA30F-CDBD-4EC3-BFCF-B0A8B2BACD54}" type="parTrans" cxnId="{47709500-23C8-49EA-A0D9-0D7A051AA16D}">
      <dgm:prSet/>
      <dgm:spPr/>
      <dgm:t>
        <a:bodyPr/>
        <a:lstStyle/>
        <a:p>
          <a:endParaRPr lang="en-US"/>
        </a:p>
      </dgm:t>
    </dgm:pt>
    <dgm:pt modelId="{52546167-47D4-4208-A27B-FB634244BF9F}" type="sibTrans" cxnId="{47709500-23C8-49EA-A0D9-0D7A051AA16D}">
      <dgm:prSet/>
      <dgm:spPr/>
      <dgm:t>
        <a:bodyPr/>
        <a:lstStyle/>
        <a:p>
          <a:endParaRPr lang="en-US"/>
        </a:p>
      </dgm:t>
    </dgm:pt>
    <dgm:pt modelId="{45808728-50FF-4AC1-B9EC-CC536300D256}" type="pres">
      <dgm:prSet presAssocID="{763A626C-C3E5-4591-8423-5F59BB3B3EAC}" presName="diagram" presStyleCnt="0">
        <dgm:presLayoutVars>
          <dgm:dir/>
          <dgm:resizeHandles val="exact"/>
        </dgm:presLayoutVars>
      </dgm:prSet>
      <dgm:spPr/>
    </dgm:pt>
    <dgm:pt modelId="{732AD6C3-3E3D-4E75-AB01-51E6C349F9D0}" type="pres">
      <dgm:prSet presAssocID="{FB518671-87C5-4B1B-B717-E3AB4E2F20CF}" presName="node" presStyleLbl="node1" presStyleIdx="0" presStyleCnt="4">
        <dgm:presLayoutVars>
          <dgm:bulletEnabled val="1"/>
        </dgm:presLayoutVars>
      </dgm:prSet>
      <dgm:spPr/>
    </dgm:pt>
    <dgm:pt modelId="{7401A9CC-612E-4284-A7E3-EBBC5EDAB472}" type="pres">
      <dgm:prSet presAssocID="{08948BEB-C3F3-422C-99DC-D7A3C3619C55}" presName="sibTrans" presStyleCnt="0"/>
      <dgm:spPr/>
    </dgm:pt>
    <dgm:pt modelId="{B4472A73-8E6C-40CB-9434-7B02D39BE75F}" type="pres">
      <dgm:prSet presAssocID="{60DB01E7-7DC6-49BE-AB4C-08C68D02C5F6}" presName="node" presStyleLbl="node1" presStyleIdx="1" presStyleCnt="4">
        <dgm:presLayoutVars>
          <dgm:bulletEnabled val="1"/>
        </dgm:presLayoutVars>
      </dgm:prSet>
      <dgm:spPr/>
    </dgm:pt>
    <dgm:pt modelId="{3507982D-DDF1-417A-960E-D4CCF7CF1970}" type="pres">
      <dgm:prSet presAssocID="{FA880F34-73F7-4EBA-902B-288D990269AF}" presName="sibTrans" presStyleCnt="0"/>
      <dgm:spPr/>
    </dgm:pt>
    <dgm:pt modelId="{52ED211B-1531-4C9B-8051-7210C0A74AC0}" type="pres">
      <dgm:prSet presAssocID="{11ACD066-673F-4C40-8B69-9669AFF4D995}" presName="node" presStyleLbl="node1" presStyleIdx="2" presStyleCnt="4">
        <dgm:presLayoutVars>
          <dgm:bulletEnabled val="1"/>
        </dgm:presLayoutVars>
      </dgm:prSet>
      <dgm:spPr/>
    </dgm:pt>
    <dgm:pt modelId="{813842D3-98FD-4063-B000-7FA6B3FF34DA}" type="pres">
      <dgm:prSet presAssocID="{D05B806D-861A-431A-B2C4-29A61D45C4EA}" presName="sibTrans" presStyleCnt="0"/>
      <dgm:spPr/>
    </dgm:pt>
    <dgm:pt modelId="{0B5FB653-F18C-4683-B9A0-9615DEFD62DB}" type="pres">
      <dgm:prSet presAssocID="{2BE1D6C2-287A-4AD7-BEBF-FA730638DBFA}" presName="node" presStyleLbl="node1" presStyleIdx="3" presStyleCnt="4">
        <dgm:presLayoutVars>
          <dgm:bulletEnabled val="1"/>
        </dgm:presLayoutVars>
      </dgm:prSet>
      <dgm:spPr/>
    </dgm:pt>
  </dgm:ptLst>
  <dgm:cxnLst>
    <dgm:cxn modelId="{47709500-23C8-49EA-A0D9-0D7A051AA16D}" srcId="{763A626C-C3E5-4591-8423-5F59BB3B3EAC}" destId="{2BE1D6C2-287A-4AD7-BEBF-FA730638DBFA}" srcOrd="3" destOrd="0" parTransId="{D2ECA30F-CDBD-4EC3-BFCF-B0A8B2BACD54}" sibTransId="{52546167-47D4-4208-A27B-FB634244BF9F}"/>
    <dgm:cxn modelId="{E4D71D2B-FA42-4415-8B79-9FCE124AACE4}" type="presOf" srcId="{2BE1D6C2-287A-4AD7-BEBF-FA730638DBFA}" destId="{0B5FB653-F18C-4683-B9A0-9615DEFD62DB}" srcOrd="0" destOrd="0" presId="urn:microsoft.com/office/officeart/2005/8/layout/default"/>
    <dgm:cxn modelId="{4A644363-8475-4BF4-90A9-EA4B0E397163}" type="presOf" srcId="{763A626C-C3E5-4591-8423-5F59BB3B3EAC}" destId="{45808728-50FF-4AC1-B9EC-CC536300D256}" srcOrd="0" destOrd="0" presId="urn:microsoft.com/office/officeart/2005/8/layout/default"/>
    <dgm:cxn modelId="{0DF9A56F-BF06-4253-A4E2-4C0F8DDA9A08}" type="presOf" srcId="{11ACD066-673F-4C40-8B69-9669AFF4D995}" destId="{52ED211B-1531-4C9B-8051-7210C0A74AC0}" srcOrd="0" destOrd="0" presId="urn:microsoft.com/office/officeart/2005/8/layout/default"/>
    <dgm:cxn modelId="{AF5D3553-65C0-466B-8D9A-D68403880C37}" srcId="{763A626C-C3E5-4591-8423-5F59BB3B3EAC}" destId="{11ACD066-673F-4C40-8B69-9669AFF4D995}" srcOrd="2" destOrd="0" parTransId="{3F773063-1A55-48C5-9E7A-2B32DC59BF17}" sibTransId="{D05B806D-861A-431A-B2C4-29A61D45C4EA}"/>
    <dgm:cxn modelId="{25050574-296A-475D-B69D-39222AADF508}" type="presOf" srcId="{FB518671-87C5-4B1B-B717-E3AB4E2F20CF}" destId="{732AD6C3-3E3D-4E75-AB01-51E6C349F9D0}" srcOrd="0" destOrd="0" presId="urn:microsoft.com/office/officeart/2005/8/layout/default"/>
    <dgm:cxn modelId="{FCBA967F-40B4-4ACD-8ABE-3F5FB5DED1DD}" srcId="{763A626C-C3E5-4591-8423-5F59BB3B3EAC}" destId="{FB518671-87C5-4B1B-B717-E3AB4E2F20CF}" srcOrd="0" destOrd="0" parTransId="{A69A486C-D8FB-4635-9305-5E3B8FC12A5C}" sibTransId="{08948BEB-C3F3-422C-99DC-D7A3C3619C55}"/>
    <dgm:cxn modelId="{4B8AD781-8D9B-4DB3-96AF-7838FD285F11}" srcId="{763A626C-C3E5-4591-8423-5F59BB3B3EAC}" destId="{60DB01E7-7DC6-49BE-AB4C-08C68D02C5F6}" srcOrd="1" destOrd="0" parTransId="{C77D5C24-1725-4A52-8BDA-2DBB316B0228}" sibTransId="{FA880F34-73F7-4EBA-902B-288D990269AF}"/>
    <dgm:cxn modelId="{3A929F89-18A5-461C-A035-C635D71096E9}" type="presOf" srcId="{60DB01E7-7DC6-49BE-AB4C-08C68D02C5F6}" destId="{B4472A73-8E6C-40CB-9434-7B02D39BE75F}" srcOrd="0" destOrd="0" presId="urn:microsoft.com/office/officeart/2005/8/layout/default"/>
    <dgm:cxn modelId="{13A412D0-3809-434B-A319-53DE9F6399EE}" type="presParOf" srcId="{45808728-50FF-4AC1-B9EC-CC536300D256}" destId="{732AD6C3-3E3D-4E75-AB01-51E6C349F9D0}" srcOrd="0" destOrd="0" presId="urn:microsoft.com/office/officeart/2005/8/layout/default"/>
    <dgm:cxn modelId="{CB5827ED-21D6-4486-9F00-EFE530D366F6}" type="presParOf" srcId="{45808728-50FF-4AC1-B9EC-CC536300D256}" destId="{7401A9CC-612E-4284-A7E3-EBBC5EDAB472}" srcOrd="1" destOrd="0" presId="urn:microsoft.com/office/officeart/2005/8/layout/default"/>
    <dgm:cxn modelId="{F14C4D5D-CDA0-4576-85E3-AACA8BA391EC}" type="presParOf" srcId="{45808728-50FF-4AC1-B9EC-CC536300D256}" destId="{B4472A73-8E6C-40CB-9434-7B02D39BE75F}" srcOrd="2" destOrd="0" presId="urn:microsoft.com/office/officeart/2005/8/layout/default"/>
    <dgm:cxn modelId="{0336293A-5F86-4689-AB7D-93B3D8CCDEAD}" type="presParOf" srcId="{45808728-50FF-4AC1-B9EC-CC536300D256}" destId="{3507982D-DDF1-417A-960E-D4CCF7CF1970}" srcOrd="3" destOrd="0" presId="urn:microsoft.com/office/officeart/2005/8/layout/default"/>
    <dgm:cxn modelId="{DAD9E41F-B101-475F-BC88-681E0971CFC8}" type="presParOf" srcId="{45808728-50FF-4AC1-B9EC-CC536300D256}" destId="{52ED211B-1531-4C9B-8051-7210C0A74AC0}" srcOrd="4" destOrd="0" presId="urn:microsoft.com/office/officeart/2005/8/layout/default"/>
    <dgm:cxn modelId="{46718EB0-C46C-4906-A5D0-141A4DB32FCA}" type="presParOf" srcId="{45808728-50FF-4AC1-B9EC-CC536300D256}" destId="{813842D3-98FD-4063-B000-7FA6B3FF34DA}" srcOrd="5" destOrd="0" presId="urn:microsoft.com/office/officeart/2005/8/layout/default"/>
    <dgm:cxn modelId="{A3DA8CF7-FA98-4446-8828-DA32DC4189F4}" type="presParOf" srcId="{45808728-50FF-4AC1-B9EC-CC536300D256}" destId="{0B5FB653-F18C-4683-B9A0-9615DEFD62DB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4B8468-1F23-40E7-8F9F-5E6CD7584628}">
      <dsp:nvSpPr>
        <dsp:cNvPr id="0" name=""/>
        <dsp:cNvSpPr/>
      </dsp:nvSpPr>
      <dsp:spPr>
        <a:xfrm>
          <a:off x="889" y="970160"/>
          <a:ext cx="3470674" cy="208240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Unplanned hospital readmissions are costly in both financially and clinically.</a:t>
          </a:r>
        </a:p>
      </dsp:txBody>
      <dsp:txXfrm>
        <a:off x="889" y="970160"/>
        <a:ext cx="3470674" cy="2082404"/>
      </dsp:txXfrm>
    </dsp:sp>
    <dsp:sp modelId="{03B1AB25-DD54-4D15-B945-A7E4C287FD3A}">
      <dsp:nvSpPr>
        <dsp:cNvPr id="0" name=""/>
        <dsp:cNvSpPr/>
      </dsp:nvSpPr>
      <dsp:spPr>
        <a:xfrm>
          <a:off x="3818632" y="970160"/>
          <a:ext cx="3470674" cy="2082404"/>
        </a:xfrm>
        <a:prstGeom prst="rect">
          <a:avLst/>
        </a:prstGeom>
        <a:solidFill>
          <a:schemeClr val="accent2">
            <a:hueOff val="-1323373"/>
            <a:satOff val="1492"/>
            <a:lumOff val="353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Can we identify high-risk patients in advance using machine learning?</a:t>
          </a:r>
        </a:p>
      </dsp:txBody>
      <dsp:txXfrm>
        <a:off x="3818632" y="970160"/>
        <a:ext cx="3470674" cy="208240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C30A92-4C38-4F7C-B774-EDAF9EF7DC4C}">
      <dsp:nvSpPr>
        <dsp:cNvPr id="0" name=""/>
        <dsp:cNvSpPr/>
      </dsp:nvSpPr>
      <dsp:spPr>
        <a:xfrm rot="5400000">
          <a:off x="506898" y="792609"/>
          <a:ext cx="689796" cy="785308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D03D7E-F2BB-413D-BD60-54299F9CDD6C}">
      <dsp:nvSpPr>
        <dsp:cNvPr id="0" name=""/>
        <dsp:cNvSpPr/>
      </dsp:nvSpPr>
      <dsp:spPr>
        <a:xfrm>
          <a:off x="324144" y="27956"/>
          <a:ext cx="1161211" cy="812810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Preprocessing</a:t>
          </a:r>
        </a:p>
      </dsp:txBody>
      <dsp:txXfrm>
        <a:off x="363829" y="67641"/>
        <a:ext cx="1081841" cy="733440"/>
      </dsp:txXfrm>
    </dsp:sp>
    <dsp:sp modelId="{390D6D52-F6CE-4BA8-B4C4-5B4DF37473DF}">
      <dsp:nvSpPr>
        <dsp:cNvPr id="0" name=""/>
        <dsp:cNvSpPr/>
      </dsp:nvSpPr>
      <dsp:spPr>
        <a:xfrm>
          <a:off x="1485355" y="105476"/>
          <a:ext cx="844554" cy="656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A7A23F8-5B22-49C0-BDB7-61570F11BFDE}">
      <dsp:nvSpPr>
        <dsp:cNvPr id="0" name=""/>
        <dsp:cNvSpPr/>
      </dsp:nvSpPr>
      <dsp:spPr>
        <a:xfrm rot="5400000">
          <a:off x="1469666" y="1705663"/>
          <a:ext cx="689796" cy="785308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BA0389-E0DD-4DC6-8F1B-DE7B2423389D}">
      <dsp:nvSpPr>
        <dsp:cNvPr id="0" name=""/>
        <dsp:cNvSpPr/>
      </dsp:nvSpPr>
      <dsp:spPr>
        <a:xfrm>
          <a:off x="1286912" y="941010"/>
          <a:ext cx="1161211" cy="812810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Clustering</a:t>
          </a:r>
        </a:p>
      </dsp:txBody>
      <dsp:txXfrm>
        <a:off x="1326597" y="980695"/>
        <a:ext cx="1081841" cy="733440"/>
      </dsp:txXfrm>
    </dsp:sp>
    <dsp:sp modelId="{1049F2B8-D808-42A4-896C-43E48D9AAA79}">
      <dsp:nvSpPr>
        <dsp:cNvPr id="0" name=""/>
        <dsp:cNvSpPr/>
      </dsp:nvSpPr>
      <dsp:spPr>
        <a:xfrm>
          <a:off x="2448123" y="1018530"/>
          <a:ext cx="844554" cy="656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A2F301B-EDD2-4C4F-8D5E-15BE9E5C800E}">
      <dsp:nvSpPr>
        <dsp:cNvPr id="0" name=""/>
        <dsp:cNvSpPr/>
      </dsp:nvSpPr>
      <dsp:spPr>
        <a:xfrm rot="5400000">
          <a:off x="2432433" y="2618717"/>
          <a:ext cx="689796" cy="785308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6C9F67-2B1E-46D5-AEF6-8322F39D6112}">
      <dsp:nvSpPr>
        <dsp:cNvPr id="0" name=""/>
        <dsp:cNvSpPr/>
      </dsp:nvSpPr>
      <dsp:spPr>
        <a:xfrm>
          <a:off x="2249679" y="1854064"/>
          <a:ext cx="1161211" cy="812810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Train-Test-Split</a:t>
          </a:r>
        </a:p>
      </dsp:txBody>
      <dsp:txXfrm>
        <a:off x="2289364" y="1893749"/>
        <a:ext cx="1081841" cy="733440"/>
      </dsp:txXfrm>
    </dsp:sp>
    <dsp:sp modelId="{151B3058-BD02-4989-871F-C339182F2ABF}">
      <dsp:nvSpPr>
        <dsp:cNvPr id="0" name=""/>
        <dsp:cNvSpPr/>
      </dsp:nvSpPr>
      <dsp:spPr>
        <a:xfrm>
          <a:off x="3410890" y="1931584"/>
          <a:ext cx="844554" cy="656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919946A-1439-4C71-B608-6BFFB6CEE852}">
      <dsp:nvSpPr>
        <dsp:cNvPr id="0" name=""/>
        <dsp:cNvSpPr/>
      </dsp:nvSpPr>
      <dsp:spPr>
        <a:xfrm rot="5400000">
          <a:off x="3395200" y="3531771"/>
          <a:ext cx="689796" cy="785308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3B6052-54C1-4E34-84BD-9F47E91144DA}">
      <dsp:nvSpPr>
        <dsp:cNvPr id="0" name=""/>
        <dsp:cNvSpPr/>
      </dsp:nvSpPr>
      <dsp:spPr>
        <a:xfrm>
          <a:off x="3212446" y="2767118"/>
          <a:ext cx="1161211" cy="812810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Model Training</a:t>
          </a:r>
        </a:p>
      </dsp:txBody>
      <dsp:txXfrm>
        <a:off x="3252131" y="2806803"/>
        <a:ext cx="1081841" cy="733440"/>
      </dsp:txXfrm>
    </dsp:sp>
    <dsp:sp modelId="{D29C31DB-13A0-4E1B-AD4E-9CF46AE8E91F}">
      <dsp:nvSpPr>
        <dsp:cNvPr id="0" name=""/>
        <dsp:cNvSpPr/>
      </dsp:nvSpPr>
      <dsp:spPr>
        <a:xfrm>
          <a:off x="4373657" y="2844638"/>
          <a:ext cx="844554" cy="656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9E3A06D-36A1-4353-A241-C99AC60B0C2D}">
      <dsp:nvSpPr>
        <dsp:cNvPr id="0" name=""/>
        <dsp:cNvSpPr/>
      </dsp:nvSpPr>
      <dsp:spPr>
        <a:xfrm>
          <a:off x="4175214" y="3680172"/>
          <a:ext cx="1161211" cy="812810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Model Evaluation</a:t>
          </a:r>
        </a:p>
      </dsp:txBody>
      <dsp:txXfrm>
        <a:off x="4214899" y="3719857"/>
        <a:ext cx="1081841" cy="73344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6B321F-979D-4F9E-9F83-4E796A6A97BA}">
      <dsp:nvSpPr>
        <dsp:cNvPr id="0" name=""/>
        <dsp:cNvSpPr/>
      </dsp:nvSpPr>
      <dsp:spPr>
        <a:xfrm>
          <a:off x="0" y="491"/>
          <a:ext cx="7290197" cy="114906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930534-94E4-4DC0-A624-23A843DA8871}">
      <dsp:nvSpPr>
        <dsp:cNvPr id="0" name=""/>
        <dsp:cNvSpPr/>
      </dsp:nvSpPr>
      <dsp:spPr>
        <a:xfrm>
          <a:off x="347593" y="259031"/>
          <a:ext cx="631988" cy="63198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04B91B-8E17-4B54-ADAA-A89317581E91}">
      <dsp:nvSpPr>
        <dsp:cNvPr id="0" name=""/>
        <dsp:cNvSpPr/>
      </dsp:nvSpPr>
      <dsp:spPr>
        <a:xfrm>
          <a:off x="1327175" y="491"/>
          <a:ext cx="5963021" cy="1149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610" tIns="121610" rIns="121610" bIns="12161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Use </a:t>
          </a:r>
          <a:r>
            <a:rPr lang="en-US" sz="2500" b="1" kern="1200" dirty="0"/>
            <a:t>SMOTE</a:t>
          </a:r>
          <a:r>
            <a:rPr lang="en-US" sz="2500" kern="1200" dirty="0"/>
            <a:t> or cost-sensitive learning to address class </a:t>
          </a:r>
          <a:r>
            <a:rPr lang="en-US" sz="2500" b="1" kern="1200" dirty="0"/>
            <a:t>imbalance</a:t>
          </a:r>
          <a:r>
            <a:rPr lang="en-US" sz="2500" kern="1200" dirty="0"/>
            <a:t>. </a:t>
          </a:r>
        </a:p>
      </dsp:txBody>
      <dsp:txXfrm>
        <a:off x="1327175" y="491"/>
        <a:ext cx="5963021" cy="1149069"/>
      </dsp:txXfrm>
    </dsp:sp>
    <dsp:sp modelId="{0CC64771-1035-491A-8413-480DD30BD332}">
      <dsp:nvSpPr>
        <dsp:cNvPr id="0" name=""/>
        <dsp:cNvSpPr/>
      </dsp:nvSpPr>
      <dsp:spPr>
        <a:xfrm>
          <a:off x="0" y="1436827"/>
          <a:ext cx="7290197" cy="114906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F92057-13C8-4D38-B035-51F8C8E9B9EA}">
      <dsp:nvSpPr>
        <dsp:cNvPr id="0" name=""/>
        <dsp:cNvSpPr/>
      </dsp:nvSpPr>
      <dsp:spPr>
        <a:xfrm>
          <a:off x="347593" y="1695368"/>
          <a:ext cx="631988" cy="63198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CF4147-2696-4F2F-9EE9-8EBD5C8B082F}">
      <dsp:nvSpPr>
        <dsp:cNvPr id="0" name=""/>
        <dsp:cNvSpPr/>
      </dsp:nvSpPr>
      <dsp:spPr>
        <a:xfrm>
          <a:off x="1327175" y="1436827"/>
          <a:ext cx="5963021" cy="1149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610" tIns="121610" rIns="121610" bIns="12161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Explore rule-based models + ML hybrid.</a:t>
          </a:r>
        </a:p>
      </dsp:txBody>
      <dsp:txXfrm>
        <a:off x="1327175" y="1436827"/>
        <a:ext cx="5963021" cy="1149069"/>
      </dsp:txXfrm>
    </dsp:sp>
    <dsp:sp modelId="{B6C8363C-1FA8-4F5D-8618-9617341EEADC}">
      <dsp:nvSpPr>
        <dsp:cNvPr id="0" name=""/>
        <dsp:cNvSpPr/>
      </dsp:nvSpPr>
      <dsp:spPr>
        <a:xfrm>
          <a:off x="0" y="2873164"/>
          <a:ext cx="7290197" cy="114906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2B119F-0584-4041-8B4D-8FE7166DA50A}">
      <dsp:nvSpPr>
        <dsp:cNvPr id="0" name=""/>
        <dsp:cNvSpPr/>
      </dsp:nvSpPr>
      <dsp:spPr>
        <a:xfrm>
          <a:off x="347593" y="3131705"/>
          <a:ext cx="631988" cy="63198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9335F9-5166-44C8-9D57-0289BCB5625A}">
      <dsp:nvSpPr>
        <dsp:cNvPr id="0" name=""/>
        <dsp:cNvSpPr/>
      </dsp:nvSpPr>
      <dsp:spPr>
        <a:xfrm>
          <a:off x="1327175" y="2873164"/>
          <a:ext cx="5963021" cy="1149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610" tIns="121610" rIns="121610" bIns="12161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Incorporate </a:t>
          </a:r>
          <a:r>
            <a:rPr lang="en-US" sz="2500" b="1" kern="1200"/>
            <a:t>clinical features like severity or procedure types</a:t>
          </a:r>
          <a:r>
            <a:rPr lang="en-US" sz="2500" kern="1200"/>
            <a:t> more directly</a:t>
          </a:r>
        </a:p>
      </dsp:txBody>
      <dsp:txXfrm>
        <a:off x="1327175" y="2873164"/>
        <a:ext cx="5963021" cy="114906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2AD6C3-3E3D-4E75-AB01-51E6C349F9D0}">
      <dsp:nvSpPr>
        <dsp:cNvPr id="0" name=""/>
        <dsp:cNvSpPr/>
      </dsp:nvSpPr>
      <dsp:spPr>
        <a:xfrm>
          <a:off x="397080" y="684"/>
          <a:ext cx="3093350" cy="185601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ML can predict readmissions with high accuracy.</a:t>
          </a:r>
        </a:p>
      </dsp:txBody>
      <dsp:txXfrm>
        <a:off x="397080" y="684"/>
        <a:ext cx="3093350" cy="1856010"/>
      </dsp:txXfrm>
    </dsp:sp>
    <dsp:sp modelId="{B4472A73-8E6C-40CB-9434-7B02D39BE75F}">
      <dsp:nvSpPr>
        <dsp:cNvPr id="0" name=""/>
        <dsp:cNvSpPr/>
      </dsp:nvSpPr>
      <dsp:spPr>
        <a:xfrm>
          <a:off x="3799766" y="684"/>
          <a:ext cx="3093350" cy="1856010"/>
        </a:xfrm>
        <a:prstGeom prst="rect">
          <a:avLst/>
        </a:prstGeom>
        <a:solidFill>
          <a:schemeClr val="accent2">
            <a:hueOff val="-441124"/>
            <a:satOff val="497"/>
            <a:lumOff val="1177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Random Forest is promising</a:t>
          </a:r>
        </a:p>
      </dsp:txBody>
      <dsp:txXfrm>
        <a:off x="3799766" y="684"/>
        <a:ext cx="3093350" cy="1856010"/>
      </dsp:txXfrm>
    </dsp:sp>
    <dsp:sp modelId="{52ED211B-1531-4C9B-8051-7210C0A74AC0}">
      <dsp:nvSpPr>
        <dsp:cNvPr id="0" name=""/>
        <dsp:cNvSpPr/>
      </dsp:nvSpPr>
      <dsp:spPr>
        <a:xfrm>
          <a:off x="397080" y="2166030"/>
          <a:ext cx="3093350" cy="1856010"/>
        </a:xfrm>
        <a:prstGeom prst="rect">
          <a:avLst/>
        </a:prstGeom>
        <a:solidFill>
          <a:schemeClr val="accent2">
            <a:hueOff val="-882249"/>
            <a:satOff val="995"/>
            <a:lumOff val="235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Clustering reveals meaningful patient segments</a:t>
          </a:r>
        </a:p>
      </dsp:txBody>
      <dsp:txXfrm>
        <a:off x="397080" y="2166030"/>
        <a:ext cx="3093350" cy="1856010"/>
      </dsp:txXfrm>
    </dsp:sp>
    <dsp:sp modelId="{0B5FB653-F18C-4683-B9A0-9615DEFD62DB}">
      <dsp:nvSpPr>
        <dsp:cNvPr id="0" name=""/>
        <dsp:cNvSpPr/>
      </dsp:nvSpPr>
      <dsp:spPr>
        <a:xfrm>
          <a:off x="3799766" y="2166030"/>
          <a:ext cx="3093350" cy="1856010"/>
        </a:xfrm>
        <a:prstGeom prst="rect">
          <a:avLst/>
        </a:prstGeom>
        <a:solidFill>
          <a:schemeClr val="accent2">
            <a:hueOff val="-1323373"/>
            <a:satOff val="1492"/>
            <a:lumOff val="353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Next step: Improve interpretability &amp; clinical adoption</a:t>
          </a:r>
        </a:p>
      </dsp:txBody>
      <dsp:txXfrm>
        <a:off x="3799766" y="2166030"/>
        <a:ext cx="3093350" cy="18560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1897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434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78767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355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947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868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255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240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0732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672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7405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0788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hcup-us.ahrq.gov/reports/statbriefs/sb153.pdf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0890400-BB8B-4A44-AB63-65C7CA223E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r"/>
            <a:r>
              <a:rPr lang="en-US" sz="4100" dirty="0"/>
              <a:t>Predicting </a:t>
            </a:r>
            <a:r>
              <a:rPr lang="en-US" sz="4100" dirty="0">
                <a:solidFill>
                  <a:srgbClr val="FFC000"/>
                </a:solidFill>
              </a:rPr>
              <a:t>Patient Readmission Risk</a:t>
            </a:r>
            <a:r>
              <a:rPr lang="en-US" sz="4100" dirty="0"/>
              <a:t> using Machine Learning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D39B797-CDC6-4529-8A36-9CBFC98163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08197" y="1600200"/>
            <a:ext cx="0" cy="36576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749497" y="888999"/>
            <a:ext cx="4693291" cy="502920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b="1" dirty="0"/>
              <a:t>Course: </a:t>
            </a:r>
            <a:r>
              <a:rPr dirty="0"/>
              <a:t>MGT-665 </a:t>
            </a:r>
            <a:r>
              <a:rPr lang="en-US" dirty="0"/>
              <a:t>Solve Problems with Machine Learning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Team: </a:t>
            </a:r>
            <a:r>
              <a:rPr lang="en-US" dirty="0"/>
              <a:t>Saumya Padhi, Surendar Reddy, Vignesh Nagarajan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b="1" dirty="0"/>
              <a:t>Instructor: </a:t>
            </a:r>
            <a:r>
              <a:rPr dirty="0"/>
              <a:t>Dr. Mighty </a:t>
            </a:r>
            <a:r>
              <a:rPr dirty="0" err="1"/>
              <a:t>Itauma</a:t>
            </a:r>
            <a:r>
              <a:rPr lang="en-US" dirty="0"/>
              <a:t> </a:t>
            </a:r>
            <a:r>
              <a:rPr lang="en-US" dirty="0" err="1"/>
              <a:t>Itauma</a:t>
            </a:r>
            <a:endParaRPr dirty="0"/>
          </a:p>
          <a:p>
            <a:pPr marL="0" indent="0">
              <a:buNone/>
            </a:pPr>
            <a:r>
              <a:rPr lang="en-US" b="1" dirty="0"/>
              <a:t>Presentation </a:t>
            </a:r>
            <a:r>
              <a:rPr b="1" dirty="0"/>
              <a:t>Date: </a:t>
            </a:r>
            <a:r>
              <a:rPr dirty="0"/>
              <a:t>July </a:t>
            </a:r>
            <a:r>
              <a:rPr lang="en-US" dirty="0"/>
              <a:t>10th</a:t>
            </a:r>
            <a:r>
              <a:rPr dirty="0"/>
              <a:t>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>
            <a:normAutofit/>
          </a:bodyPr>
          <a:lstStyle/>
          <a:p>
            <a:r>
              <a:rPr lang="en-US"/>
              <a:t>Problem Statement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4699B49-F423-9333-BF1C-6D10E1DDCA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1079675"/>
              </p:ext>
            </p:extLst>
          </p:nvPr>
        </p:nvGraphicFramePr>
        <p:xfrm>
          <a:off x="767953" y="1938867"/>
          <a:ext cx="7290197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Goal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5425" y="2369260"/>
            <a:ext cx="7926404" cy="305938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dirty="0"/>
              <a:t>Predict 30-day readmission &amp; uncover wellness-based patient clusters</a:t>
            </a:r>
            <a:br>
              <a:rPr lang="en-US" sz="2800" dirty="0"/>
            </a:br>
            <a:endParaRPr lang="en-US" sz="2800" dirty="0"/>
          </a:p>
          <a:p>
            <a:pPr marL="0" indent="0" algn="ctr">
              <a:buNone/>
            </a:pPr>
            <a:r>
              <a:rPr lang="en-US" sz="2800" dirty="0"/>
              <a:t>Classification + Clustering </a:t>
            </a:r>
          </a:p>
          <a:p>
            <a:pPr marL="0" indent="0" algn="ctr">
              <a:buNone/>
            </a:pPr>
            <a:r>
              <a:rPr lang="en-US" sz="2800" dirty="0"/>
              <a:t>= </a:t>
            </a:r>
          </a:p>
          <a:p>
            <a:pPr marL="0" indent="0" algn="ctr">
              <a:buNone/>
            </a:pPr>
            <a:r>
              <a:rPr lang="en-US" sz="2800" dirty="0"/>
              <a:t>Predictive + Strategic insights</a:t>
            </a:r>
            <a:endParaRPr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D3DD297-5DAA-E8E3-D59B-FCF8CA8C7C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043" y="3331654"/>
            <a:ext cx="7924800" cy="325172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662707"/>
            <a:ext cx="8229600" cy="1143000"/>
          </a:xfrm>
        </p:spPr>
        <p:txBody>
          <a:bodyPr/>
          <a:lstStyle/>
          <a:p>
            <a:r>
              <a:rPr dirty="0"/>
              <a:t>Background &amp; Motivation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005DF5F-FF32-BD7A-AA59-53D88C2339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01378" y="2228671"/>
            <a:ext cx="474124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Diabetes </a:t>
            </a:r>
            <a:r>
              <a:rPr lang="en-US" altLang="en-US" sz="2400" dirty="0">
                <a:latin typeface="Arial" panose="020B0604020202020204" pitchFamily="34" charset="0"/>
              </a:rPr>
              <a:t>→ One of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major cause Readmission → Costly, avoidable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ML → Proactive decision-making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ED680D-76E4-2747-D47B-4879180BE0BE}"/>
              </a:ext>
            </a:extLst>
          </p:cNvPr>
          <p:cNvSpPr txBox="1"/>
          <p:nvPr/>
        </p:nvSpPr>
        <p:spPr>
          <a:xfrm>
            <a:off x="134754" y="6463482"/>
            <a:ext cx="90092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rgbClr val="1B1B1B"/>
                </a:solidFill>
                <a:effectLst/>
                <a:latin typeface="Verdana" panose="020B0604030504040204" pitchFamily="34" charset="0"/>
              </a:rPr>
              <a:t>Sources: Agency for Healthcare Research and Quality (AHRQ), </a:t>
            </a:r>
            <a:r>
              <a:rPr lang="en-US" sz="1400" dirty="0"/>
              <a:t>https://hcup-us.ahrq.gov/reports/statbriefs/sb153.jsp</a:t>
            </a:r>
          </a:p>
          <a:p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Dataset Overview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89BC4E4-8E14-F0DD-499C-8DDDB67176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87655" y="2320630"/>
            <a:ext cx="7825339" cy="2597827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UCI Diabetes Dataset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101,766 records | 10 years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Features: age, gender, diagnoses, labs, meds, readmitted (Target)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1370" y="674144"/>
            <a:ext cx="8229600" cy="1143000"/>
          </a:xfrm>
        </p:spPr>
        <p:txBody>
          <a:bodyPr/>
          <a:lstStyle/>
          <a:p>
            <a:r>
              <a:rPr dirty="0"/>
              <a:t>Literature Review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D6674BE-030B-C760-2BDA-0D2988E444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8830138"/>
              </p:ext>
            </p:extLst>
          </p:nvPr>
        </p:nvGraphicFramePr>
        <p:xfrm>
          <a:off x="923924" y="2118358"/>
          <a:ext cx="7644493" cy="45071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5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8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898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3071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rPr dirty="0"/>
                        <a:t>Author(s)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rPr dirty="0"/>
                        <a:t>ML Models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Key Findings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5751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/>
                        <a:t>Rajkomar et al., 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 dirty="0"/>
                        <a:t>DNN, Logistic Regression, GBT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 dirty="0"/>
                        <a:t>Deep models outperformed traditional ML models in predicting readmission, mortality, and length of stay using EHRs.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5751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/>
                        <a:t>Zhou et al., 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 dirty="0">
                          <a:highlight>
                            <a:srgbClr val="00FFFF"/>
                          </a:highlight>
                        </a:rPr>
                        <a:t>Random Forest, SVM, k-NN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 dirty="0"/>
                        <a:t>Classical ML models showed strong performance on large-scale healthcare datasets.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5751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/>
                        <a:t>Chen et al., 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 dirty="0"/>
                        <a:t>Tree-based Models, </a:t>
                      </a:r>
                      <a:r>
                        <a:rPr sz="1600" dirty="0">
                          <a:highlight>
                            <a:srgbClr val="00FFFF"/>
                          </a:highlight>
                        </a:rPr>
                        <a:t>Neural Networks</a:t>
                      </a:r>
                      <a:r>
                        <a:rPr sz="1600" dirty="0"/>
                        <a:t>, SVM, 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 dirty="0"/>
                        <a:t>Most reviewed studies used tree-based and neural models; many reported AUC &gt; 0.70 in readmission prediction.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45751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/>
                        <a:t>Interpretable ML Study, 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 dirty="0">
                          <a:highlight>
                            <a:srgbClr val="00FFFF"/>
                          </a:highlight>
                        </a:rPr>
                        <a:t>Random Forest</a:t>
                      </a:r>
                      <a:r>
                        <a:rPr sz="1600" dirty="0"/>
                        <a:t>, Neural Network, Regression Tree Surrogates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 dirty="0"/>
                        <a:t>Regression tree surrogates were used to replicate black-box models like RF and NN, ensuring model interpretability with minimal accuracy loss.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3812" y="2391878"/>
            <a:ext cx="7894641" cy="341215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Missing Value Handling.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Dropped Columns with &gt; 50% missing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One-Hot Encoding.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Target binarization: Readmitted = Yes/No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Pipeline includes preprocessing, clustering, train-test split (80/20).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Machine Learning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11729" y="1733324"/>
            <a:ext cx="4599616" cy="2731474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Split data - (train/test: 80/20)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Models - KNN, Decision Tree, Naive Bayes, Random Forest, MLP (Multi-layer Perceptron neural network 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Evaluation metrics - Accuracy, Precision, Recall, F1, ROC-AUC</a:t>
            </a:r>
            <a:endParaRPr sz="2400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988CD6C1-DF30-6326-0E73-2254C5C1BD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34435069"/>
              </p:ext>
            </p:extLst>
          </p:nvPr>
        </p:nvGraphicFramePr>
        <p:xfrm>
          <a:off x="315687" y="1929267"/>
          <a:ext cx="5660570" cy="45209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181" y="2046366"/>
            <a:ext cx="8229600" cy="1621971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Random Forest: </a:t>
            </a:r>
            <a:r>
              <a:rPr lang="en-US" dirty="0"/>
              <a:t>88.8% accuracy, F1: 0.836</a:t>
            </a:r>
          </a:p>
          <a:p>
            <a:pPr algn="ctr"/>
            <a:r>
              <a:rPr lang="en-US" b="1" dirty="0"/>
              <a:t>KNN</a:t>
            </a:r>
            <a:r>
              <a:rPr lang="en-US" dirty="0"/>
              <a:t>: 88% accuracy, F1: 0.835</a:t>
            </a:r>
          </a:p>
          <a:p>
            <a:pPr algn="ctr"/>
            <a:r>
              <a:rPr lang="en-US" b="1" dirty="0"/>
              <a:t>Note: </a:t>
            </a:r>
            <a:r>
              <a:rPr lang="en-US" dirty="0"/>
              <a:t>Class imbalance → minority class prediction poor</a:t>
            </a:r>
          </a:p>
          <a:p>
            <a:pPr marL="0" indent="0" algn="ctr">
              <a:buNone/>
            </a:pP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D251949-4BEE-AD7E-F82B-362C0C697D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6697521"/>
              </p:ext>
            </p:extLst>
          </p:nvPr>
        </p:nvGraphicFramePr>
        <p:xfrm>
          <a:off x="768096" y="3629871"/>
          <a:ext cx="7641771" cy="2362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38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00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83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83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rPr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rPr dirty="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F1-Score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Accuracy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2000"/>
                        <a:t>KNN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0.810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0.880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 dirty="0">
                          <a:highlight>
                            <a:srgbClr val="00FFFF"/>
                          </a:highlight>
                        </a:rPr>
                        <a:t>0.835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 dirty="0">
                          <a:highlight>
                            <a:srgbClr val="00FFFF"/>
                          </a:highlight>
                        </a:rPr>
                        <a:t>0.880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2000"/>
                        <a:t>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 dirty="0"/>
                        <a:t>0.814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0.823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0.818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0.823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2000"/>
                        <a:t>Naive Bayes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0.837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0.150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0.100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0.150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2000"/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 dirty="0"/>
                        <a:t>0.850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 dirty="0"/>
                        <a:t>0.888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 dirty="0">
                          <a:highlight>
                            <a:srgbClr val="00FFFF"/>
                          </a:highlight>
                        </a:rPr>
                        <a:t>0.836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 dirty="0">
                          <a:highlight>
                            <a:srgbClr val="00FFFF"/>
                          </a:highlight>
                        </a:rPr>
                        <a:t>0.888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2000" dirty="0"/>
                        <a:t>MLP (Neural Net)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0.812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0.837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 dirty="0"/>
                        <a:t>0.824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 dirty="0"/>
                        <a:t>0.837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F29BA2F-35D6-546C-6610-29CA3596E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640" y="2069271"/>
            <a:ext cx="7651473" cy="46229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652" y="938206"/>
            <a:ext cx="7414180" cy="668043"/>
          </a:xfrm>
        </p:spPr>
        <p:txBody>
          <a:bodyPr>
            <a:normAutofit/>
          </a:bodyPr>
          <a:lstStyle/>
          <a:p>
            <a:r>
              <a:rPr dirty="0"/>
              <a:t>Classification Results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915" y="957855"/>
            <a:ext cx="8140045" cy="687486"/>
          </a:xfrm>
        </p:spPr>
        <p:txBody>
          <a:bodyPr>
            <a:normAutofit/>
          </a:bodyPr>
          <a:lstStyle/>
          <a:p>
            <a:r>
              <a:rPr dirty="0"/>
              <a:t>ROC Curve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2522" y="2030931"/>
            <a:ext cx="7771713" cy="490280"/>
          </a:xfrm>
        </p:spPr>
        <p:txBody>
          <a:bodyPr>
            <a:normAutofit fontScale="92500"/>
          </a:bodyPr>
          <a:lstStyle/>
          <a:p>
            <a:r>
              <a:rPr sz="1800" dirty="0"/>
              <a:t>ROC curves show Random Forest had highest AUC, indicating strong predictive power.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2FB84A-9069-9703-543B-DBAEC4066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936" y="2415940"/>
            <a:ext cx="5937030" cy="414211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058" y="678899"/>
            <a:ext cx="8577942" cy="1143000"/>
          </a:xfrm>
        </p:spPr>
        <p:txBody>
          <a:bodyPr/>
          <a:lstStyle/>
          <a:p>
            <a:r>
              <a:rPr dirty="0"/>
              <a:t>Unsupervised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8028" y="2486042"/>
            <a:ext cx="6987941" cy="3558623"/>
          </a:xfrm>
        </p:spPr>
        <p:txBody>
          <a:bodyPr>
            <a:normAutofit fontScale="92500" lnSpcReduction="20000"/>
          </a:bodyPr>
          <a:lstStyle/>
          <a:p>
            <a:r>
              <a:rPr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Applied KMeans and Agglomerative Clustering</a:t>
            </a:r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for patients natural grouping.  </a:t>
            </a:r>
          </a:p>
          <a:p>
            <a:endParaRPr lang="en-US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 visualize clusters, we used Principal Component Analysis (PCA) to reduce high-dimensional data into 2D.</a:t>
            </a:r>
          </a:p>
          <a:p>
            <a:endParaRPr lang="en-US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Clusters reflect differing wellness profiles among patients, helping in care personalization.</a:t>
            </a:r>
          </a:p>
          <a:p>
            <a:endParaRPr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Cluster Analysis Insight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98A2C3-486C-F98C-F607-6A58904D0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371" y="2796039"/>
            <a:ext cx="8436429" cy="347674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51A741C-63E7-FC8F-6E83-18CEF4053BF3}"/>
              </a:ext>
            </a:extLst>
          </p:cNvPr>
          <p:cNvSpPr txBox="1"/>
          <p:nvPr/>
        </p:nvSpPr>
        <p:spPr>
          <a:xfrm>
            <a:off x="4866217" y="2139115"/>
            <a:ext cx="39729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Overall, Class Imbalance Confirmation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669C36-DA08-6ABE-2EA9-67B06D8E64D0}"/>
              </a:ext>
            </a:extLst>
          </p:cNvPr>
          <p:cNvSpPr txBox="1"/>
          <p:nvPr/>
        </p:nvSpPr>
        <p:spPr>
          <a:xfrm>
            <a:off x="863600" y="2122177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Identification of High-Risk Clusters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3200" dirty="0"/>
              <a:t>Random Forest and KNN performed </a:t>
            </a:r>
            <a:r>
              <a:rPr lang="en-US" sz="3200" dirty="0"/>
              <a:t>well on predicting readmission.</a:t>
            </a:r>
          </a:p>
          <a:p>
            <a:r>
              <a:rPr lang="en-US" sz="3200" dirty="0"/>
              <a:t>Clusters can assist in </a:t>
            </a:r>
            <a:r>
              <a:rPr lang="en-US" sz="3200" b="1" dirty="0"/>
              <a:t>segmenting patients by risk or care pathway.</a:t>
            </a:r>
          </a:p>
          <a:p>
            <a:r>
              <a:rPr sz="3200" dirty="0"/>
              <a:t>All models struggled with class imbalance on the minority class.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3323844" cy="1499616"/>
          </a:xfrm>
        </p:spPr>
        <p:txBody>
          <a:bodyPr>
            <a:normAutofit/>
          </a:bodyPr>
          <a:lstStyle/>
          <a:p>
            <a:r>
              <a:rPr dirty="0"/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6" y="2015066"/>
            <a:ext cx="3322211" cy="3931920"/>
          </a:xfrm>
        </p:spPr>
        <p:txBody>
          <a:bodyPr>
            <a:normAutofit/>
          </a:bodyPr>
          <a:lstStyle/>
          <a:p>
            <a:r>
              <a:rPr lang="en-US" dirty="0"/>
              <a:t>MLP is accurate but hard to interpret. Clinicians need transparent Explainable Models.</a:t>
            </a:r>
          </a:p>
          <a:p>
            <a:r>
              <a:rPr lang="en-US" dirty="0"/>
              <a:t>Association Rules – Missing features related to </a:t>
            </a:r>
            <a:r>
              <a:rPr lang="en-US" dirty="0">
                <a:highlight>
                  <a:srgbClr val="C0C0C0"/>
                </a:highlight>
              </a:rPr>
              <a:t>Frequent Procedures</a:t>
            </a:r>
            <a:r>
              <a:rPr lang="en-US" dirty="0"/>
              <a:t> on the Dataset</a:t>
            </a:r>
          </a:p>
        </p:txBody>
      </p:sp>
      <p:pic>
        <p:nvPicPr>
          <p:cNvPr id="7172" name="Picture 4" descr="Generated image">
            <a:extLst>
              <a:ext uri="{FF2B5EF4-FFF2-40B4-BE49-F238E27FC236}">
                <a16:creationId xmlns:a16="http://schemas.microsoft.com/office/drawing/2014/main" id="{13919EEB-B4FB-E2AD-AD5D-56C78C2119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72000" y="1383030"/>
            <a:ext cx="4091940" cy="4091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>
            <a:normAutofit/>
          </a:bodyPr>
          <a:lstStyle/>
          <a:p>
            <a:r>
              <a:rPr lang="en-US" dirty="0"/>
              <a:t>FUTURE WORK / IMPROVEMENTs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7D82639-3EDB-4A13-29C3-DBEB01430E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3352276"/>
              </p:ext>
            </p:extLst>
          </p:nvPr>
        </p:nvGraphicFramePr>
        <p:xfrm>
          <a:off x="767953" y="2286000"/>
          <a:ext cx="7290197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>
            <a:normAutofit/>
          </a:bodyPr>
          <a:lstStyle/>
          <a:p>
            <a:r>
              <a:rPr lang="en-US"/>
              <a:t>Conclusion</a:t>
            </a:r>
            <a:endParaRPr lang="en-US" dirty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79293CE7-3F2D-5585-EF0A-EE4FBD449E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7064840"/>
              </p:ext>
            </p:extLst>
          </p:nvPr>
        </p:nvGraphicFramePr>
        <p:xfrm>
          <a:off x="767953" y="2286000"/>
          <a:ext cx="7290197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Rajkomar</a:t>
            </a:r>
            <a:r>
              <a:rPr lang="en-US" dirty="0"/>
              <a:t>, A., Dean, J., &amp; </a:t>
            </a:r>
            <a:r>
              <a:rPr lang="en-US" dirty="0" err="1"/>
              <a:t>Kohane</a:t>
            </a:r>
            <a:r>
              <a:rPr lang="en-US" dirty="0"/>
              <a:t>, I. (2019). Machine learning in medicine. </a:t>
            </a:r>
            <a:r>
              <a:rPr lang="en-US" i="1" dirty="0"/>
              <a:t>New England Journal of Medicine</a:t>
            </a:r>
            <a:r>
              <a:rPr lang="en-US" dirty="0"/>
              <a:t>, </a:t>
            </a:r>
            <a:r>
              <a:rPr lang="en-US" i="1" dirty="0"/>
              <a:t>380</a:t>
            </a:r>
            <a:r>
              <a:rPr lang="en-US" dirty="0"/>
              <a:t>(14), 1347–1358. https://doi.org/10.1056/NEJMra1814259</a:t>
            </a:r>
          </a:p>
          <a:p>
            <a:r>
              <a:rPr lang="en-US" dirty="0"/>
              <a:t>Zhou, L., Pan, S., Wang, J., &amp; Vasilakos, A. V. (2020). Machine learning on big data: Opportunities and challenges. </a:t>
            </a:r>
            <a:r>
              <a:rPr lang="de-DE" i="1" dirty="0"/>
              <a:t>Neurocomputing</a:t>
            </a:r>
            <a:r>
              <a:rPr lang="de-DE" dirty="0"/>
              <a:t>, </a:t>
            </a:r>
            <a:r>
              <a:rPr lang="de-DE" i="1" dirty="0"/>
              <a:t>237</a:t>
            </a:r>
            <a:r>
              <a:rPr lang="de-DE" dirty="0"/>
              <a:t>, 350–361. https://doi.org/10.1016/j.neucom.2017.01.026</a:t>
            </a:r>
            <a:endParaRPr lang="en-US" dirty="0"/>
          </a:p>
          <a:p>
            <a:r>
              <a:rPr lang="de-DE" dirty="0"/>
              <a:t>Elixhauser A (AHRQ), Steiner C (AHRQ). </a:t>
            </a:r>
            <a:r>
              <a:rPr lang="en-US" i="1" dirty="0"/>
              <a:t>Readmissions to U.S. Hospitals by Diagnosis, 2010</a:t>
            </a:r>
            <a:r>
              <a:rPr lang="en-US" dirty="0"/>
              <a:t>. HCUP Statistical Brief #153. April 2013. Agency for Healthcare Research and Quality, Rockville, MD. </a:t>
            </a:r>
            <a:r>
              <a:rPr lang="en-US" u="sng" dirty="0">
                <a:hlinkClick r:id="rId2"/>
              </a:rPr>
              <a:t>http://www.hcup-us.ahrq.gov/reports/statbriefs/sb153.pdf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Q&amp;A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2655" y="3040376"/>
            <a:ext cx="2934687" cy="13465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400" dirty="0"/>
              <a:t>Thank you! 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0241AE3F-F7E0-81A7-5EFA-4888973604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76" r="5378"/>
          <a:stretch>
            <a:fillRect/>
          </a:stretch>
        </p:blipFill>
        <p:spPr bwMode="auto">
          <a:xfrm>
            <a:off x="3420534" y="1568313"/>
            <a:ext cx="5156200" cy="3721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466</TotalTime>
  <Words>789</Words>
  <Application>Microsoft Office PowerPoint</Application>
  <PresentationFormat>On-screen Show (4:3)</PresentationFormat>
  <Paragraphs>122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Tw Cen MT</vt:lpstr>
      <vt:lpstr>Tw Cen MT Condensed</vt:lpstr>
      <vt:lpstr>Verdana</vt:lpstr>
      <vt:lpstr>Wingdings</vt:lpstr>
      <vt:lpstr>Wingdings 3</vt:lpstr>
      <vt:lpstr>Integral</vt:lpstr>
      <vt:lpstr>Predicting Patient Readmission Risk using Machine Learning</vt:lpstr>
      <vt:lpstr>Problem Statement</vt:lpstr>
      <vt:lpstr>The Goal</vt:lpstr>
      <vt:lpstr>Background &amp; Motivation</vt:lpstr>
      <vt:lpstr>Dataset Overview</vt:lpstr>
      <vt:lpstr>Literature Review</vt:lpstr>
      <vt:lpstr>Data Preprocessing</vt:lpstr>
      <vt:lpstr>Machine Learning Pipeline</vt:lpstr>
      <vt:lpstr>Evaluation Metrics</vt:lpstr>
      <vt:lpstr>Classification Results</vt:lpstr>
      <vt:lpstr>ROC Curve</vt:lpstr>
      <vt:lpstr>Unsupervised Learning</vt:lpstr>
      <vt:lpstr>Cluster Analysis Insight</vt:lpstr>
      <vt:lpstr>Key Findings</vt:lpstr>
      <vt:lpstr>Challenges</vt:lpstr>
      <vt:lpstr>FUTURE WORK / IMPROVEMENTs</vt:lpstr>
      <vt:lpstr>Conclusion</vt:lpstr>
      <vt:lpstr>References</vt:lpstr>
      <vt:lpstr>Q&amp;A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vignesh vinoth</dc:creator>
  <cp:keywords/>
  <dc:description>generated using python-pptx</dc:description>
  <cp:lastModifiedBy>Padhi, Saumya Ranjan</cp:lastModifiedBy>
  <cp:revision>3</cp:revision>
  <dcterms:created xsi:type="dcterms:W3CDTF">2013-01-27T09:14:16Z</dcterms:created>
  <dcterms:modified xsi:type="dcterms:W3CDTF">2025-07-09T02:04:55Z</dcterms:modified>
  <cp:category/>
</cp:coreProperties>
</file>